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Telegraf Bold" charset="1" panose="00000800000000000000"/>
      <p:regular r:id="rId21"/>
    </p:embeddedFont>
    <p:embeddedFont>
      <p:font typeface="Telegraf" charset="1" panose="00000500000000000000"/>
      <p:regular r:id="rId22"/>
    </p:embeddedFont>
    <p:embeddedFont>
      <p:font typeface="Telegraf Heavy" charset="1" panose="00000A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notesMasters/notesMaster1.xml" Type="http://schemas.openxmlformats.org/officeDocument/2006/relationships/notesMaster"/><Relationship Id="rId19" Target="theme/theme2.xml" Type="http://schemas.openxmlformats.org/officeDocument/2006/relationships/theme"/><Relationship Id="rId2" Target="presProps.xml" Type="http://schemas.openxmlformats.org/officeDocument/2006/relationships/presProps"/><Relationship Id="rId20" Target="notesSlides/notesSlide1.xml" Type="http://schemas.openxmlformats.org/officeDocument/2006/relationships/notesSlide"/><Relationship Id="rId21" Target="fonts/font21.fntdata" Type="http://schemas.openxmlformats.org/officeDocument/2006/relationships/font"/><Relationship Id="rId22" Target="fonts/font22.fntdata" Type="http://schemas.openxmlformats.org/officeDocument/2006/relationships/font"/><Relationship Id="rId23" Target="notesSlides/notesSlide2.xml" Type="http://schemas.openxmlformats.org/officeDocument/2006/relationships/notesSlide"/><Relationship Id="rId24" Target="notesSlides/notesSlide3.xml" Type="http://schemas.openxmlformats.org/officeDocument/2006/relationships/notesSlide"/><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¡Hola a todos! [Haz contacto visual con la audiencia y sonríe] Hoy vamos a hablar sobre un tema crucial: la prevención de accidentes costeros, específicamente, cómo evitar ataques de tiburones. Este es un trabajo conjunto de Mónica María Fernández Mirás y Mª Carmen Ríos Rodríguez.</a:t>
            </a:r>
          </a:p>
          <a:p>
            <a:r>
              <a:rPr lang="en-US"/>
              <a:t/>
            </a:r>
          </a:p>
          <a:p>
            <a:r>
              <a:rPr lang="en-US"/>
              <a:t>Uno de los sistemas que hemos desarrollado es el "Sharkattack System", diseñado para prevenir estos peligrosos encuentros. [Pausa breve para generar expectativa] Queremos asegurarnos de que las playas sean seguras para todos, y este sistema es un paso importante hacia ese objetivo.</a:t>
            </a:r>
          </a:p>
          <a:p>
            <a:r>
              <a:rPr lang="en-US"/>
              <a:t/>
            </a:r>
          </a:p>
          <a:p>
            <a:r>
              <a:rPr lang="en-US"/>
              <a:t>A lo largo de esta presentación, exploraremos cómo el "Sharkattack System" puede cambiar la manera en que nos protegemos en la costa. [Haz una pausa para permitir que la audiencia procese la información] Ahora, vamos a profundizar en los datos y las estrategias que respaldan este sistema innovador. Gracias por su atención y su interés en mantener nuestras costas seguras. [Haz una transición suave hacia la siguiente diapositiva]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 Descripción general del proyecto. </a:t>
            </a:r>
          </a:p>
          <a:p>
            <a:r>
              <a:rPr lang="en-US"/>
              <a:t/>
            </a:r>
          </a:p>
          <a:p>
            <a:r>
              <a:rPr lang="en-US"/>
              <a:t>describimos brevemente el conjunto de datos original y las hipótesis que hemos creado.</a:t>
            </a:r>
          </a:p>
          <a:p>
            <a:r>
              <a:rPr lang="en-US"/>
              <a:t>hablamos de eliminacion de columnas que no aportaban nada a la tabla, </a:t>
            </a:r>
          </a:p>
          <a:p>
            <a:r>
              <a:rPr lang="en-US"/>
              <a:t>cambiar los nombres de las columnas, poniendolo en minusculas y eliminar espacio.</a:t>
            </a:r>
          </a:p>
          <a:p>
            <a:r>
              <a:rPr lang="en-US"/>
              <a:t>revisamos la cantidad de nulos en nuestras columnas para tomar decisiones sobre nuestras hipotesis</a:t>
            </a:r>
          </a:p>
          <a:p>
            <a:r>
              <a:rPr lang="en-US"/>
              <a:t>revisamos si contabamos con columnas duplicadas, teniamos una y la eliminamos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sv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slide6.xml" Type="http://schemas.openxmlformats.org/officeDocument/2006/relationships/slide"/><Relationship Id="rId11" Target="slide7.xml" Type="http://schemas.openxmlformats.org/officeDocument/2006/relationships/slide"/><Relationship Id="rId12" Target="slide5.xml" Type="http://schemas.openxmlformats.org/officeDocument/2006/relationships/slide"/><Relationship Id="rId13" Target="slide12.xml" Type="http://schemas.openxmlformats.org/officeDocument/2006/relationships/slide"/><Relationship Id="rId2" Target="../notesSlides/notesSlide3.xml" Type="http://schemas.openxmlformats.org/officeDocument/2006/relationships/notesSlide"/><Relationship Id="rId3" Target="../media/image1.pn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6.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2" Target="../media/image1.pn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1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embeddings/oleObject1.bin" Type="http://schemas.openxmlformats.org/officeDocument/2006/relationships/oleObject"/><Relationship Id="rId11" Target="../media/image22.png" Type="http://schemas.openxmlformats.org/officeDocument/2006/relationships/image"/><Relationship Id="rId12" Target="../embeddings/oleObject2.bin" Type="http://schemas.openxmlformats.org/officeDocument/2006/relationships/oleObject"/><Relationship Id="rId2" Target="../media/image1.pn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2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embeddings/oleObject3.bin" Type="http://schemas.openxmlformats.org/officeDocument/2006/relationships/oleObject"/><Relationship Id="rId11" Target="../media/image24.png" Type="http://schemas.openxmlformats.org/officeDocument/2006/relationships/image"/><Relationship Id="rId12" Target="../embeddings/oleObject4.bin" Type="http://schemas.openxmlformats.org/officeDocument/2006/relationships/oleObject"/><Relationship Id="rId2" Target="../media/image1.pn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2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svg" Type="http://schemas.openxmlformats.org/officeDocument/2006/relationships/image"/><Relationship Id="rId2" Target="../media/image1.pn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2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24354" r="-1468" b="-56033"/>
            </a:stretch>
          </a:blipFill>
        </p:spPr>
      </p:sp>
      <p:grpSp>
        <p:nvGrpSpPr>
          <p:cNvPr name="Group 3" id="3"/>
          <p:cNvGrpSpPr/>
          <p:nvPr/>
        </p:nvGrpSpPr>
        <p:grpSpPr>
          <a:xfrm rot="0">
            <a:off x="905495" y="1315441"/>
            <a:ext cx="9009410" cy="6082798"/>
            <a:chOff x="0" y="0"/>
            <a:chExt cx="3286657" cy="2219021"/>
          </a:xfrm>
        </p:grpSpPr>
        <p:sp>
          <p:nvSpPr>
            <p:cNvPr name="Freeform 4" id="4"/>
            <p:cNvSpPr/>
            <p:nvPr/>
          </p:nvSpPr>
          <p:spPr>
            <a:xfrm flipH="false" flipV="false" rot="0">
              <a:off x="0" y="0"/>
              <a:ext cx="3286657" cy="2219021"/>
            </a:xfrm>
            <a:custGeom>
              <a:avLst/>
              <a:gdLst/>
              <a:ahLst/>
              <a:cxnLst/>
              <a:rect r="r" b="b" t="t" l="l"/>
              <a:pathLst>
                <a:path h="2219021" w="3286657">
                  <a:moveTo>
                    <a:pt x="0" y="0"/>
                  </a:moveTo>
                  <a:lnTo>
                    <a:pt x="3286657" y="0"/>
                  </a:lnTo>
                  <a:lnTo>
                    <a:pt x="3286657" y="2219021"/>
                  </a:lnTo>
                  <a:lnTo>
                    <a:pt x="0" y="2219021"/>
                  </a:lnTo>
                  <a:close/>
                </a:path>
              </a:pathLst>
            </a:custGeom>
            <a:solidFill>
              <a:srgbClr val="FFFFFF"/>
            </a:solidFill>
          </p:spPr>
        </p:sp>
      </p:grpSp>
      <p:sp>
        <p:nvSpPr>
          <p:cNvPr name="Freeform 5" id="5"/>
          <p:cNvSpPr/>
          <p:nvPr/>
        </p:nvSpPr>
        <p:spPr>
          <a:xfrm flipH="true" flipV="false" rot="0">
            <a:off x="-2156129" y="8872350"/>
            <a:ext cx="6662470" cy="1611106"/>
          </a:xfrm>
          <a:custGeom>
            <a:avLst/>
            <a:gdLst/>
            <a:ahLst/>
            <a:cxnLst/>
            <a:rect r="r" b="b" t="t" l="l"/>
            <a:pathLst>
              <a:path h="1611106" w="6662470">
                <a:moveTo>
                  <a:pt x="6662470" y="0"/>
                </a:moveTo>
                <a:lnTo>
                  <a:pt x="0" y="0"/>
                </a:lnTo>
                <a:lnTo>
                  <a:pt x="0" y="1611107"/>
                </a:lnTo>
                <a:lnTo>
                  <a:pt x="6662470" y="1611107"/>
                </a:lnTo>
                <a:lnTo>
                  <a:pt x="666247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0">
            <a:off x="14791434" y="-196457"/>
            <a:ext cx="5652695" cy="1366924"/>
          </a:xfrm>
          <a:custGeom>
            <a:avLst/>
            <a:gdLst/>
            <a:ahLst/>
            <a:cxnLst/>
            <a:rect r="r" b="b" t="t" l="l"/>
            <a:pathLst>
              <a:path h="1366924" w="5652695">
                <a:moveTo>
                  <a:pt x="5652695" y="0"/>
                </a:moveTo>
                <a:lnTo>
                  <a:pt x="0" y="0"/>
                </a:lnTo>
                <a:lnTo>
                  <a:pt x="0" y="1366925"/>
                </a:lnTo>
                <a:lnTo>
                  <a:pt x="5652695" y="1366925"/>
                </a:lnTo>
                <a:lnTo>
                  <a:pt x="5652695"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0261150" y="1315441"/>
            <a:ext cx="7087021" cy="7701883"/>
            <a:chOff x="0" y="0"/>
            <a:chExt cx="2585364" cy="2809668"/>
          </a:xfrm>
        </p:grpSpPr>
        <p:sp>
          <p:nvSpPr>
            <p:cNvPr name="Freeform 8" id="8"/>
            <p:cNvSpPr/>
            <p:nvPr/>
          </p:nvSpPr>
          <p:spPr>
            <a:xfrm flipH="false" flipV="false" rot="0">
              <a:off x="0" y="0"/>
              <a:ext cx="2585364" cy="2809668"/>
            </a:xfrm>
            <a:custGeom>
              <a:avLst/>
              <a:gdLst/>
              <a:ahLst/>
              <a:cxnLst/>
              <a:rect r="r" b="b" t="t" l="l"/>
              <a:pathLst>
                <a:path h="2809668" w="2585364">
                  <a:moveTo>
                    <a:pt x="0" y="0"/>
                  </a:moveTo>
                  <a:lnTo>
                    <a:pt x="2585364" y="0"/>
                  </a:lnTo>
                  <a:lnTo>
                    <a:pt x="2585364" y="2809668"/>
                  </a:lnTo>
                  <a:lnTo>
                    <a:pt x="0" y="2809668"/>
                  </a:lnTo>
                  <a:close/>
                </a:path>
              </a:pathLst>
            </a:custGeom>
            <a:solidFill>
              <a:srgbClr val="FFFFFF"/>
            </a:solidFill>
          </p:spPr>
        </p:sp>
      </p:grpSp>
      <p:sp>
        <p:nvSpPr>
          <p:cNvPr name="Freeform 9" id="9"/>
          <p:cNvSpPr/>
          <p:nvPr/>
        </p:nvSpPr>
        <p:spPr>
          <a:xfrm flipH="false" flipV="false" rot="0">
            <a:off x="10692016" y="4401714"/>
            <a:ext cx="6225288" cy="3893634"/>
          </a:xfrm>
          <a:custGeom>
            <a:avLst/>
            <a:gdLst/>
            <a:ahLst/>
            <a:cxnLst/>
            <a:rect r="r" b="b" t="t" l="l"/>
            <a:pathLst>
              <a:path h="3893634" w="6225288">
                <a:moveTo>
                  <a:pt x="0" y="0"/>
                </a:moveTo>
                <a:lnTo>
                  <a:pt x="6225288" y="0"/>
                </a:lnTo>
                <a:lnTo>
                  <a:pt x="6225288" y="3893634"/>
                </a:lnTo>
                <a:lnTo>
                  <a:pt x="0" y="38936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6100246" y="3001723"/>
            <a:ext cx="441616" cy="633141"/>
          </a:xfrm>
          <a:custGeom>
            <a:avLst/>
            <a:gdLst/>
            <a:ahLst/>
            <a:cxnLst/>
            <a:rect r="r" b="b" t="t" l="l"/>
            <a:pathLst>
              <a:path h="633141" w="441616">
                <a:moveTo>
                  <a:pt x="0" y="0"/>
                </a:moveTo>
                <a:lnTo>
                  <a:pt x="441616" y="0"/>
                </a:lnTo>
                <a:lnTo>
                  <a:pt x="441616" y="633141"/>
                </a:lnTo>
                <a:lnTo>
                  <a:pt x="0" y="6331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203414">
            <a:off x="11173930" y="3499519"/>
            <a:ext cx="321948" cy="461574"/>
          </a:xfrm>
          <a:custGeom>
            <a:avLst/>
            <a:gdLst/>
            <a:ahLst/>
            <a:cxnLst/>
            <a:rect r="r" b="b" t="t" l="l"/>
            <a:pathLst>
              <a:path h="461574" w="321948">
                <a:moveTo>
                  <a:pt x="0" y="0"/>
                </a:moveTo>
                <a:lnTo>
                  <a:pt x="321948" y="0"/>
                </a:lnTo>
                <a:lnTo>
                  <a:pt x="321948" y="461574"/>
                </a:lnTo>
                <a:lnTo>
                  <a:pt x="0" y="46157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2" id="12"/>
          <p:cNvGrpSpPr/>
          <p:nvPr/>
        </p:nvGrpSpPr>
        <p:grpSpPr>
          <a:xfrm rot="0">
            <a:off x="2850127" y="7778957"/>
            <a:ext cx="5848142" cy="1479343"/>
            <a:chOff x="0" y="0"/>
            <a:chExt cx="7797523" cy="1972458"/>
          </a:xfrm>
        </p:grpSpPr>
        <p:grpSp>
          <p:nvGrpSpPr>
            <p:cNvPr name="Group 13" id="13"/>
            <p:cNvGrpSpPr/>
            <p:nvPr/>
          </p:nvGrpSpPr>
          <p:grpSpPr>
            <a:xfrm rot="0">
              <a:off x="0" y="0"/>
              <a:ext cx="6877644" cy="1972458"/>
              <a:chOff x="0" y="0"/>
              <a:chExt cx="1881738" cy="539668"/>
            </a:xfrm>
          </p:grpSpPr>
          <p:sp>
            <p:nvSpPr>
              <p:cNvPr name="Freeform 14" id="14"/>
              <p:cNvSpPr/>
              <p:nvPr/>
            </p:nvSpPr>
            <p:spPr>
              <a:xfrm flipH="false" flipV="false" rot="0">
                <a:off x="0" y="0"/>
                <a:ext cx="1881737" cy="539668"/>
              </a:xfrm>
              <a:custGeom>
                <a:avLst/>
                <a:gdLst/>
                <a:ahLst/>
                <a:cxnLst/>
                <a:rect r="r" b="b" t="t" l="l"/>
                <a:pathLst>
                  <a:path h="539668" w="1881737">
                    <a:moveTo>
                      <a:pt x="0" y="0"/>
                    </a:moveTo>
                    <a:lnTo>
                      <a:pt x="1881737" y="0"/>
                    </a:lnTo>
                    <a:lnTo>
                      <a:pt x="1881737" y="539668"/>
                    </a:lnTo>
                    <a:lnTo>
                      <a:pt x="0" y="539668"/>
                    </a:lnTo>
                    <a:close/>
                  </a:path>
                </a:pathLst>
              </a:custGeom>
              <a:solidFill>
                <a:srgbClr val="FFFFFF"/>
              </a:solidFill>
            </p:spPr>
          </p:sp>
        </p:grpSp>
        <p:sp>
          <p:nvSpPr>
            <p:cNvPr name="TextBox 15" id="15"/>
            <p:cNvSpPr txBox="true"/>
            <p:nvPr/>
          </p:nvSpPr>
          <p:spPr>
            <a:xfrm rot="0">
              <a:off x="400770" y="391869"/>
              <a:ext cx="7396753" cy="1112520"/>
            </a:xfrm>
            <a:prstGeom prst="rect">
              <a:avLst/>
            </a:prstGeom>
          </p:spPr>
          <p:txBody>
            <a:bodyPr anchor="t" rtlCol="false" tIns="0" lIns="0" bIns="0" rIns="0">
              <a:spAutoFit/>
            </a:bodyPr>
            <a:lstStyle/>
            <a:p>
              <a:pPr algn="l">
                <a:lnSpc>
                  <a:spcPts val="3359"/>
                </a:lnSpc>
              </a:pPr>
              <a:r>
                <a:rPr lang="en-US" sz="2400" b="true">
                  <a:solidFill>
                    <a:srgbClr val="000000"/>
                  </a:solidFill>
                  <a:latin typeface="Telegraf Bold"/>
                  <a:ea typeface="Telegraf Bold"/>
                  <a:cs typeface="Telegraf Bold"/>
                  <a:sym typeface="Telegraf Bold"/>
                </a:rPr>
                <a:t>Mónica María Fernández Mirás</a:t>
              </a:r>
            </a:p>
            <a:p>
              <a:pPr algn="l">
                <a:lnSpc>
                  <a:spcPts val="3359"/>
                </a:lnSpc>
                <a:spcBef>
                  <a:spcPct val="0"/>
                </a:spcBef>
              </a:pPr>
              <a:r>
                <a:rPr lang="en-US" b="true" sz="2400">
                  <a:solidFill>
                    <a:srgbClr val="000000"/>
                  </a:solidFill>
                  <a:latin typeface="Telegraf Bold"/>
                  <a:ea typeface="Telegraf Bold"/>
                  <a:cs typeface="Telegraf Bold"/>
                  <a:sym typeface="Telegraf Bold"/>
                </a:rPr>
                <a:t>y Mª Carmen Ríos Rodríguez</a:t>
              </a:r>
            </a:p>
          </p:txBody>
        </p:sp>
      </p:grpSp>
      <p:sp>
        <p:nvSpPr>
          <p:cNvPr name="Freeform 16" id="16"/>
          <p:cNvSpPr/>
          <p:nvPr/>
        </p:nvSpPr>
        <p:spPr>
          <a:xfrm flipH="false" flipV="false" rot="0">
            <a:off x="12690344" y="1991652"/>
            <a:ext cx="2228632" cy="1815322"/>
          </a:xfrm>
          <a:custGeom>
            <a:avLst/>
            <a:gdLst/>
            <a:ahLst/>
            <a:cxnLst/>
            <a:rect r="r" b="b" t="t" l="l"/>
            <a:pathLst>
              <a:path h="1815322" w="2228632">
                <a:moveTo>
                  <a:pt x="0" y="0"/>
                </a:moveTo>
                <a:lnTo>
                  <a:pt x="2228632" y="0"/>
                </a:lnTo>
                <a:lnTo>
                  <a:pt x="2228632" y="1815322"/>
                </a:lnTo>
                <a:lnTo>
                  <a:pt x="0" y="181532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7" id="17"/>
          <p:cNvGrpSpPr/>
          <p:nvPr/>
        </p:nvGrpSpPr>
        <p:grpSpPr>
          <a:xfrm rot="0">
            <a:off x="1437079" y="1997703"/>
            <a:ext cx="7946241" cy="4718275"/>
            <a:chOff x="0" y="0"/>
            <a:chExt cx="10594989" cy="6291033"/>
          </a:xfrm>
        </p:grpSpPr>
        <p:sp>
          <p:nvSpPr>
            <p:cNvPr name="TextBox 18" id="18"/>
            <p:cNvSpPr txBox="true"/>
            <p:nvPr/>
          </p:nvSpPr>
          <p:spPr>
            <a:xfrm rot="0">
              <a:off x="0" y="57150"/>
              <a:ext cx="10594989" cy="4904317"/>
            </a:xfrm>
            <a:prstGeom prst="rect">
              <a:avLst/>
            </a:prstGeom>
          </p:spPr>
          <p:txBody>
            <a:bodyPr anchor="t" rtlCol="false" tIns="0" lIns="0" bIns="0" rIns="0">
              <a:spAutoFit/>
            </a:bodyPr>
            <a:lstStyle/>
            <a:p>
              <a:pPr algn="l">
                <a:lnSpc>
                  <a:spcPts val="6999"/>
                </a:lnSpc>
              </a:pPr>
              <a:r>
                <a:rPr lang="en-US" sz="6999" spc="83" b="true">
                  <a:solidFill>
                    <a:srgbClr val="003EA8"/>
                  </a:solidFill>
                  <a:latin typeface="Telegraf Bold"/>
                  <a:ea typeface="Telegraf Bold"/>
                  <a:cs typeface="Telegraf Bold"/>
                  <a:sym typeface="Telegraf Bold"/>
                </a:rPr>
                <a:t>Sistema de prevención de accidentes costeros</a:t>
              </a:r>
            </a:p>
          </p:txBody>
        </p:sp>
        <p:sp>
          <p:nvSpPr>
            <p:cNvPr name="TextBox 19" id="19"/>
            <p:cNvSpPr txBox="true"/>
            <p:nvPr/>
          </p:nvSpPr>
          <p:spPr>
            <a:xfrm rot="0">
              <a:off x="0" y="5135333"/>
              <a:ext cx="10594989" cy="1155700"/>
            </a:xfrm>
            <a:prstGeom prst="rect">
              <a:avLst/>
            </a:prstGeom>
          </p:spPr>
          <p:txBody>
            <a:bodyPr anchor="t" rtlCol="false" tIns="0" lIns="0" bIns="0" rIns="0">
              <a:spAutoFit/>
            </a:bodyPr>
            <a:lstStyle/>
            <a:p>
              <a:pPr algn="l">
                <a:lnSpc>
                  <a:spcPts val="3359"/>
                </a:lnSpc>
              </a:pPr>
              <a:r>
                <a:rPr lang="en-US" sz="2799">
                  <a:solidFill>
                    <a:srgbClr val="000000"/>
                  </a:solidFill>
                  <a:latin typeface="Telegraf"/>
                  <a:ea typeface="Telegraf"/>
                  <a:cs typeface="Telegraf"/>
                  <a:sym typeface="Telegraf"/>
                </a:rPr>
                <a:t>Sharkattack System:</a:t>
              </a:r>
            </a:p>
            <a:p>
              <a:pPr algn="l">
                <a:lnSpc>
                  <a:spcPts val="3360"/>
                </a:lnSpc>
              </a:pPr>
              <a:r>
                <a:rPr lang="en-US" sz="2800">
                  <a:solidFill>
                    <a:srgbClr val="000000"/>
                  </a:solidFill>
                  <a:latin typeface="Telegraf"/>
                  <a:ea typeface="Telegraf"/>
                  <a:cs typeface="Telegraf"/>
                  <a:sym typeface="Telegraf"/>
                </a:rPr>
                <a:t>Evitando los ataques de tiburones</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24354" r="-1468" b="-56033"/>
            </a:stretch>
          </a:blipFill>
        </p:spPr>
      </p:sp>
      <p:grpSp>
        <p:nvGrpSpPr>
          <p:cNvPr name="Group 3" id="3"/>
          <p:cNvGrpSpPr/>
          <p:nvPr/>
        </p:nvGrpSpPr>
        <p:grpSpPr>
          <a:xfrm rot="0">
            <a:off x="905495" y="680808"/>
            <a:ext cx="16439375" cy="3503822"/>
            <a:chOff x="0" y="0"/>
            <a:chExt cx="5997128" cy="1278204"/>
          </a:xfrm>
        </p:grpSpPr>
        <p:sp>
          <p:nvSpPr>
            <p:cNvPr name="Freeform 4" id="4"/>
            <p:cNvSpPr/>
            <p:nvPr/>
          </p:nvSpPr>
          <p:spPr>
            <a:xfrm flipH="false" flipV="false" rot="0">
              <a:off x="0" y="0"/>
              <a:ext cx="5997129" cy="1278204"/>
            </a:xfrm>
            <a:custGeom>
              <a:avLst/>
              <a:gdLst/>
              <a:ahLst/>
              <a:cxnLst/>
              <a:rect r="r" b="b" t="t" l="l"/>
              <a:pathLst>
                <a:path h="1278204" w="5997129">
                  <a:moveTo>
                    <a:pt x="0" y="0"/>
                  </a:moveTo>
                  <a:lnTo>
                    <a:pt x="5997129" y="0"/>
                  </a:lnTo>
                  <a:lnTo>
                    <a:pt x="5997129" y="1278204"/>
                  </a:lnTo>
                  <a:lnTo>
                    <a:pt x="0" y="1278204"/>
                  </a:lnTo>
                  <a:close/>
                </a:path>
              </a:pathLst>
            </a:custGeom>
            <a:solidFill>
              <a:srgbClr val="FFFFFF"/>
            </a:solidFill>
          </p:spPr>
        </p:sp>
      </p:grpSp>
      <p:graphicFrame>
        <p:nvGraphicFramePr>
          <p:cNvPr name="Table 5" id="5"/>
          <p:cNvGraphicFramePr>
            <a:graphicFrameLocks noGrp="true"/>
          </p:cNvGraphicFramePr>
          <p:nvPr/>
        </p:nvGraphicFramePr>
        <p:xfrm>
          <a:off x="938290" y="4201718"/>
          <a:ext cx="16439375" cy="5151830"/>
        </p:xfrm>
        <a:graphic>
          <a:graphicData uri="http://schemas.openxmlformats.org/drawingml/2006/table">
            <a:tbl>
              <a:tblPr/>
              <a:tblGrid>
                <a:gridCol w="8252482"/>
                <a:gridCol w="8186893"/>
              </a:tblGrid>
              <a:tr h="1264425">
                <a:tc>
                  <a:txBody>
                    <a:bodyPr anchor="t" rtlCol="false"/>
                    <a:lstStyle/>
                    <a:p>
                      <a:pPr algn="ctr">
                        <a:lnSpc>
                          <a:spcPts val="2800"/>
                        </a:lnSpc>
                        <a:defRPr/>
                      </a:pPr>
                      <a:r>
                        <a:rPr lang="en-US" sz="2000">
                          <a:solidFill>
                            <a:srgbClr val="000000"/>
                          </a:solidFill>
                          <a:latin typeface="Telegraf"/>
                          <a:ea typeface="Telegraf"/>
                          <a:cs typeface="Telegraf"/>
                          <a:sym typeface="Telegraf"/>
                        </a:rPr>
                        <a:t>El df inicial contaba con 7065 registros y 23 columnas</a:t>
                      </a:r>
                      <a:endParaRPr lang="en-US" sz="1100"/>
                    </a:p>
                  </a:txBody>
                  <a:tcPr marL="190500" marR="190500" marT="190500" marB="190500" anchor="ctr">
                    <a:lnL cmpd="sng" algn="ctr" cap="flat" w="0">
                      <a:solidFill>
                        <a:srgbClr val="FFFFFF"/>
                      </a:solidFill>
                      <a:prstDash val="solid"/>
                      <a:round/>
                      <a:headEnd type="none" w="med" len="med"/>
                      <a:tailEnd type="none" w="med" len="med"/>
                    </a:lnL>
                    <a:lnR cmpd="sng" algn="ctr" cap="flat" w="19050">
                      <a:solidFill>
                        <a:srgbClr val="CCCCCC"/>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19050">
                      <a:solidFill>
                        <a:srgbClr val="CCCCCC"/>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Telegraf"/>
                          <a:ea typeface="Telegraf"/>
                          <a:cs typeface="Telegraf"/>
                          <a:sym typeface="Telegraf"/>
                        </a:rPr>
                        <a:t>Eliminamos 8 columnas que tienen todos los valores vacíos</a:t>
                      </a:r>
                      <a:endParaRPr lang="en-US" sz="1100"/>
                    </a:p>
                  </a:txBody>
                  <a:tcPr marL="190500" marR="190500" marT="190500" marB="190500" anchor="ctr">
                    <a:lnL cmpd="sng" algn="ctr" cap="flat" w="19050">
                      <a:solidFill>
                        <a:srgbClr val="CCCCCC"/>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19050">
                      <a:solidFill>
                        <a:srgbClr val="CCCCCC"/>
                      </a:solidFill>
                      <a:prstDash val="solid"/>
                      <a:round/>
                      <a:headEnd type="none" w="med" len="med"/>
                      <a:tailEnd type="none" w="med" len="med"/>
                    </a:lnB>
                    <a:solidFill>
                      <a:srgbClr val="FFFFFF"/>
                    </a:solidFill>
                  </a:tcPr>
                </a:tc>
              </a:tr>
              <a:tr h="1296175">
                <a:tc>
                  <a:txBody>
                    <a:bodyPr anchor="t" rtlCol="false"/>
                    <a:lstStyle/>
                    <a:p>
                      <a:pPr algn="ctr">
                        <a:lnSpc>
                          <a:spcPts val="2800"/>
                        </a:lnSpc>
                        <a:defRPr/>
                      </a:pPr>
                      <a:r>
                        <a:rPr lang="en-US" sz="2000">
                          <a:solidFill>
                            <a:srgbClr val="000000"/>
                          </a:solidFill>
                          <a:latin typeface="Telegraf"/>
                          <a:ea typeface="Telegraf"/>
                          <a:cs typeface="Telegraf"/>
                          <a:sym typeface="Telegraf"/>
                        </a:rPr>
                        <a:t>Los títulos de nuestras Series no están unificados y tienen espacios</a:t>
                      </a:r>
                      <a:endParaRPr lang="en-US" sz="1100"/>
                    </a:p>
                  </a:txBody>
                  <a:tcPr marL="190500" marR="190500" marT="190500" marB="190500" anchor="ctr">
                    <a:lnL cmpd="sng" algn="ctr" cap="flat" w="0">
                      <a:solidFill>
                        <a:srgbClr val="FFFFFF"/>
                      </a:solidFill>
                      <a:prstDash val="solid"/>
                      <a:round/>
                      <a:headEnd type="none" w="med" len="med"/>
                      <a:tailEnd type="none" w="med" len="med"/>
                    </a:lnL>
                    <a:lnR cmpd="sng" algn="ctr" cap="flat" w="19050">
                      <a:solidFill>
                        <a:srgbClr val="CCCCCC"/>
                      </a:solidFill>
                      <a:prstDash val="solid"/>
                      <a:round/>
                      <a:headEnd type="none" w="med" len="med"/>
                      <a:tailEnd type="none" w="med" len="med"/>
                    </a:lnR>
                    <a:lnT cmpd="sng" algn="ctr" cap="flat" w="19050">
                      <a:solidFill>
                        <a:srgbClr val="CCCCCC"/>
                      </a:solidFill>
                      <a:prstDash val="solid"/>
                      <a:round/>
                      <a:headEnd type="none" w="med" len="med"/>
                      <a:tailEnd type="none" w="med" len="med"/>
                    </a:lnT>
                    <a:lnB cmpd="sng" algn="ctr" cap="flat" w="19050">
                      <a:solidFill>
                        <a:srgbClr val="CCCCCC"/>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Telegraf"/>
                          <a:ea typeface="Telegraf"/>
                          <a:cs typeface="Telegraf"/>
                          <a:sym typeface="Telegraf"/>
                        </a:rPr>
                        <a:t>Decidimos poner todos los nombres en minúsculas y eliminar espacios </a:t>
                      </a:r>
                      <a:endParaRPr lang="en-US" sz="1100"/>
                    </a:p>
                  </a:txBody>
                  <a:tcPr marL="190500" marR="190500" marT="190500" marB="190500" anchor="ctr">
                    <a:lnL cmpd="sng" algn="ctr" cap="flat" w="19050">
                      <a:solidFill>
                        <a:srgbClr val="CCCCCC"/>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19050">
                      <a:solidFill>
                        <a:srgbClr val="CCCCCC"/>
                      </a:solidFill>
                      <a:prstDash val="solid"/>
                      <a:round/>
                      <a:headEnd type="none" w="med" len="med"/>
                      <a:tailEnd type="none" w="med" len="med"/>
                    </a:lnT>
                    <a:lnB cmpd="sng" algn="ctr" cap="flat" w="19050">
                      <a:solidFill>
                        <a:srgbClr val="CCCCCC"/>
                      </a:solidFill>
                      <a:prstDash val="solid"/>
                      <a:round/>
                      <a:headEnd type="none" w="med" len="med"/>
                      <a:tailEnd type="none" w="med" len="med"/>
                    </a:lnB>
                    <a:solidFill>
                      <a:srgbClr val="FFFFFF"/>
                    </a:solidFill>
                  </a:tcPr>
                </a:tc>
              </a:tr>
              <a:tr h="1296175">
                <a:tc>
                  <a:txBody>
                    <a:bodyPr anchor="t" rtlCol="false"/>
                    <a:lstStyle/>
                    <a:p>
                      <a:pPr algn="ctr">
                        <a:lnSpc>
                          <a:spcPts val="2800"/>
                        </a:lnSpc>
                        <a:defRPr/>
                      </a:pPr>
                      <a:r>
                        <a:rPr lang="en-US" sz="2000">
                          <a:solidFill>
                            <a:srgbClr val="000000"/>
                          </a:solidFill>
                          <a:latin typeface="Telegraf"/>
                          <a:ea typeface="Telegraf"/>
                          <a:cs typeface="Telegraf"/>
                          <a:sym typeface="Telegraf"/>
                        </a:rPr>
                        <a:t>Comprobamos cuántos valores nulos hay en nuestro df</a:t>
                      </a:r>
                      <a:endParaRPr lang="en-US" sz="1100"/>
                    </a:p>
                  </a:txBody>
                  <a:tcPr marL="190500" marR="190500" marT="190500" marB="190500" anchor="ctr">
                    <a:lnL cmpd="sng" algn="ctr" cap="flat" w="0">
                      <a:solidFill>
                        <a:srgbClr val="FFFFFF"/>
                      </a:solidFill>
                      <a:prstDash val="solid"/>
                      <a:round/>
                      <a:headEnd type="none" w="med" len="med"/>
                      <a:tailEnd type="none" w="med" len="med"/>
                    </a:lnL>
                    <a:lnR cmpd="sng" algn="ctr" cap="flat" w="19050">
                      <a:solidFill>
                        <a:srgbClr val="CCCCCC"/>
                      </a:solidFill>
                      <a:prstDash val="solid"/>
                      <a:round/>
                      <a:headEnd type="none" w="med" len="med"/>
                      <a:tailEnd type="none" w="med" len="med"/>
                    </a:lnR>
                    <a:lnT cmpd="sng" algn="ctr" cap="flat" w="19050">
                      <a:solidFill>
                        <a:srgbClr val="CCCCCC"/>
                      </a:solidFill>
                      <a:prstDash val="solid"/>
                      <a:round/>
                      <a:headEnd type="none" w="med" len="med"/>
                      <a:tailEnd type="none" w="med" len="med"/>
                    </a:lnT>
                    <a:lnB cmpd="sng" algn="ctr" cap="flat" w="19050">
                      <a:solidFill>
                        <a:srgbClr val="CCCCCC"/>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Telegraf"/>
                          <a:ea typeface="Telegraf"/>
                          <a:cs typeface="Telegraf"/>
                          <a:sym typeface="Telegraf"/>
                        </a:rPr>
                        <a:t>Decidimos gestionar los nulos según nuestras hipótesis</a:t>
                      </a:r>
                      <a:endParaRPr lang="en-US" sz="1100"/>
                    </a:p>
                  </a:txBody>
                  <a:tcPr marL="190500" marR="190500" marT="190500" marB="190500" anchor="ctr">
                    <a:lnL cmpd="sng" algn="ctr" cap="flat" w="19050">
                      <a:solidFill>
                        <a:srgbClr val="CCCCCC"/>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19050">
                      <a:solidFill>
                        <a:srgbClr val="CCCCCC"/>
                      </a:solidFill>
                      <a:prstDash val="solid"/>
                      <a:round/>
                      <a:headEnd type="none" w="med" len="med"/>
                      <a:tailEnd type="none" w="med" len="med"/>
                    </a:lnT>
                    <a:lnB cmpd="sng" algn="ctr" cap="flat" w="19050">
                      <a:solidFill>
                        <a:srgbClr val="CCCCCC"/>
                      </a:solidFill>
                      <a:prstDash val="solid"/>
                      <a:round/>
                      <a:headEnd type="none" w="med" len="med"/>
                      <a:tailEnd type="none" w="med" len="med"/>
                    </a:lnB>
                    <a:solidFill>
                      <a:srgbClr val="FFFFFF"/>
                    </a:solidFill>
                  </a:tcPr>
                </a:tc>
              </a:tr>
              <a:tr h="1295057">
                <a:tc>
                  <a:txBody>
                    <a:bodyPr anchor="t" rtlCol="false"/>
                    <a:lstStyle/>
                    <a:p>
                      <a:pPr algn="ctr">
                        <a:lnSpc>
                          <a:spcPts val="2800"/>
                        </a:lnSpc>
                        <a:defRPr/>
                      </a:pPr>
                      <a:r>
                        <a:rPr lang="en-US" sz="2000">
                          <a:solidFill>
                            <a:srgbClr val="000000"/>
                          </a:solidFill>
                          <a:latin typeface="Telegraf"/>
                          <a:ea typeface="Telegraf"/>
                          <a:cs typeface="Telegraf"/>
                          <a:sym typeface="Telegraf"/>
                        </a:rPr>
                        <a:t>Localizamos que hay una fila duplicada</a:t>
                      </a:r>
                      <a:endParaRPr lang="en-US" sz="1100"/>
                    </a:p>
                  </a:txBody>
                  <a:tcPr marL="190500" marR="190500" marT="190500" marB="190500" anchor="ctr">
                    <a:lnL cmpd="sng" algn="ctr" cap="flat" w="0">
                      <a:solidFill>
                        <a:srgbClr val="FFFFFF"/>
                      </a:solidFill>
                      <a:prstDash val="solid"/>
                      <a:round/>
                      <a:headEnd type="none" w="med" len="med"/>
                      <a:tailEnd type="none" w="med" len="med"/>
                    </a:lnL>
                    <a:lnR cmpd="sng" algn="ctr" cap="flat" w="19050">
                      <a:solidFill>
                        <a:srgbClr val="CCCCCC"/>
                      </a:solidFill>
                      <a:prstDash val="solid"/>
                      <a:round/>
                      <a:headEnd type="none" w="med" len="med"/>
                      <a:tailEnd type="none" w="med" len="med"/>
                    </a:lnR>
                    <a:lnT cmpd="sng" algn="ctr" cap="flat" w="19050">
                      <a:solidFill>
                        <a:srgbClr val="CCCCCC"/>
                      </a:solidFill>
                      <a:prstDash val="solid"/>
                      <a:round/>
                      <a:headEnd type="none" w="med" len="med"/>
                      <a:tailEnd type="none" w="med" len="med"/>
                    </a:lnT>
                    <a:lnB cmpd="sng" algn="ctr" cap="flat" w="0">
                      <a:solidFill>
                        <a:srgbClr val="FFFFF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Telegraf"/>
                          <a:ea typeface="Telegraf"/>
                          <a:cs typeface="Telegraf"/>
                          <a:sym typeface="Telegraf"/>
                        </a:rPr>
                        <a:t>Eliminamos la fila duplicada </a:t>
                      </a:r>
                      <a:endParaRPr lang="en-US" sz="1100"/>
                    </a:p>
                  </a:txBody>
                  <a:tcPr marL="190500" marR="190500" marT="190500" marB="190500" anchor="ctr">
                    <a:lnL cmpd="sng" algn="ctr" cap="flat" w="19050">
                      <a:solidFill>
                        <a:srgbClr val="CCCCCC"/>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19050">
                      <a:solidFill>
                        <a:srgbClr val="CCCCCC"/>
                      </a:solidFill>
                      <a:prstDash val="solid"/>
                      <a:round/>
                      <a:headEnd type="none" w="med" len="med"/>
                      <a:tailEnd type="none" w="med" len="med"/>
                    </a:lnT>
                    <a:lnB cmpd="sng" algn="ctr" cap="flat" w="0">
                      <a:solidFill>
                        <a:srgbClr val="FFFFFF"/>
                      </a:solidFill>
                      <a:prstDash val="solid"/>
                      <a:round/>
                      <a:headEnd type="none" w="med" len="med"/>
                      <a:tailEnd type="none" w="med" len="med"/>
                    </a:lnB>
                    <a:solidFill>
                      <a:srgbClr val="FFFFFF"/>
                    </a:solidFill>
                  </a:tcPr>
                </a:tc>
              </a:tr>
            </a:tbl>
          </a:graphicData>
        </a:graphic>
      </p:graphicFrame>
      <p:sp>
        <p:nvSpPr>
          <p:cNvPr name="Freeform 6" id="6"/>
          <p:cNvSpPr/>
          <p:nvPr/>
        </p:nvSpPr>
        <p:spPr>
          <a:xfrm flipH="false" flipV="false" rot="0">
            <a:off x="11989663" y="8797919"/>
            <a:ext cx="7147788" cy="1728465"/>
          </a:xfrm>
          <a:custGeom>
            <a:avLst/>
            <a:gdLst/>
            <a:ahLst/>
            <a:cxnLst/>
            <a:rect r="r" b="b" t="t" l="l"/>
            <a:pathLst>
              <a:path h="1728465" w="7147788">
                <a:moveTo>
                  <a:pt x="0" y="0"/>
                </a:moveTo>
                <a:lnTo>
                  <a:pt x="7147788" y="0"/>
                </a:lnTo>
                <a:lnTo>
                  <a:pt x="7147788" y="1728465"/>
                </a:lnTo>
                <a:lnTo>
                  <a:pt x="0" y="17284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1702764" y="8942224"/>
            <a:ext cx="573798" cy="822649"/>
          </a:xfrm>
          <a:custGeom>
            <a:avLst/>
            <a:gdLst/>
            <a:ahLst/>
            <a:cxnLst/>
            <a:rect r="r" b="b" t="t" l="l"/>
            <a:pathLst>
              <a:path h="822649" w="573798">
                <a:moveTo>
                  <a:pt x="0" y="0"/>
                </a:moveTo>
                <a:lnTo>
                  <a:pt x="573798" y="0"/>
                </a:lnTo>
                <a:lnTo>
                  <a:pt x="573798" y="822649"/>
                </a:lnTo>
                <a:lnTo>
                  <a:pt x="0" y="8226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3318882" y="-411324"/>
            <a:ext cx="573798" cy="822649"/>
          </a:xfrm>
          <a:custGeom>
            <a:avLst/>
            <a:gdLst/>
            <a:ahLst/>
            <a:cxnLst/>
            <a:rect r="r" b="b" t="t" l="l"/>
            <a:pathLst>
              <a:path h="822649" w="573798">
                <a:moveTo>
                  <a:pt x="0" y="0"/>
                </a:moveTo>
                <a:lnTo>
                  <a:pt x="573798" y="0"/>
                </a:lnTo>
                <a:lnTo>
                  <a:pt x="573798" y="822648"/>
                </a:lnTo>
                <a:lnTo>
                  <a:pt x="0" y="8226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608297" y="158885"/>
            <a:ext cx="3927179" cy="1392364"/>
          </a:xfrm>
          <a:custGeom>
            <a:avLst/>
            <a:gdLst/>
            <a:ahLst/>
            <a:cxnLst/>
            <a:rect r="r" b="b" t="t" l="l"/>
            <a:pathLst>
              <a:path h="1392364" w="3927179">
                <a:moveTo>
                  <a:pt x="0" y="0"/>
                </a:moveTo>
                <a:lnTo>
                  <a:pt x="3927179" y="0"/>
                </a:lnTo>
                <a:lnTo>
                  <a:pt x="3927179" y="1392363"/>
                </a:lnTo>
                <a:lnTo>
                  <a:pt x="0" y="13923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2460195" y="1162271"/>
            <a:ext cx="13395565" cy="2533650"/>
          </a:xfrm>
          <a:prstGeom prst="rect">
            <a:avLst/>
          </a:prstGeom>
        </p:spPr>
        <p:txBody>
          <a:bodyPr anchor="t" rtlCol="false" tIns="0" lIns="0" bIns="0" rIns="0">
            <a:spAutoFit/>
          </a:bodyPr>
          <a:lstStyle/>
          <a:p>
            <a:pPr algn="ctr">
              <a:lnSpc>
                <a:spcPts val="9600"/>
              </a:lnSpc>
            </a:pPr>
            <a:r>
              <a:rPr lang="en-US" sz="8000" b="true">
                <a:solidFill>
                  <a:srgbClr val="003EA8"/>
                </a:solidFill>
                <a:latin typeface="Telegraf Bold"/>
                <a:ea typeface="Telegraf Bold"/>
                <a:cs typeface="Telegraf Bold"/>
                <a:sym typeface="Telegraf Bold"/>
              </a:rPr>
              <a:t>Data Frame original: </a:t>
            </a:r>
          </a:p>
          <a:p>
            <a:pPr algn="ctr" marL="0" indent="0" lvl="0">
              <a:lnSpc>
                <a:spcPts val="9600"/>
              </a:lnSpc>
              <a:spcBef>
                <a:spcPct val="0"/>
              </a:spcBef>
            </a:pPr>
            <a:r>
              <a:rPr lang="en-US" b="true" sz="8000">
                <a:solidFill>
                  <a:srgbClr val="003EA8"/>
                </a:solidFill>
                <a:latin typeface="Telegraf Bold"/>
                <a:ea typeface="Telegraf Bold"/>
                <a:cs typeface="Telegraf Bold"/>
                <a:sym typeface="Telegraf Bold"/>
              </a:rPr>
              <a:t>problemas y soluciones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24354" r="-1468" b="-56033"/>
            </a:stretch>
          </a:blipFill>
        </p:spPr>
      </p:sp>
      <p:grpSp>
        <p:nvGrpSpPr>
          <p:cNvPr name="Group 3" id="3"/>
          <p:cNvGrpSpPr/>
          <p:nvPr/>
        </p:nvGrpSpPr>
        <p:grpSpPr>
          <a:xfrm rot="0">
            <a:off x="1219294" y="2910273"/>
            <a:ext cx="15795020" cy="6745738"/>
            <a:chOff x="0" y="0"/>
            <a:chExt cx="5762066" cy="2460863"/>
          </a:xfrm>
        </p:grpSpPr>
        <p:sp>
          <p:nvSpPr>
            <p:cNvPr name="Freeform 4" id="4"/>
            <p:cNvSpPr/>
            <p:nvPr/>
          </p:nvSpPr>
          <p:spPr>
            <a:xfrm flipH="false" flipV="false" rot="0">
              <a:off x="0" y="0"/>
              <a:ext cx="5762066" cy="2460863"/>
            </a:xfrm>
            <a:custGeom>
              <a:avLst/>
              <a:gdLst/>
              <a:ahLst/>
              <a:cxnLst/>
              <a:rect r="r" b="b" t="t" l="l"/>
              <a:pathLst>
                <a:path h="2460863" w="5762066">
                  <a:moveTo>
                    <a:pt x="0" y="0"/>
                  </a:moveTo>
                  <a:lnTo>
                    <a:pt x="5762066" y="0"/>
                  </a:lnTo>
                  <a:lnTo>
                    <a:pt x="5762066" y="2460863"/>
                  </a:lnTo>
                  <a:lnTo>
                    <a:pt x="0" y="2460863"/>
                  </a:lnTo>
                  <a:close/>
                </a:path>
              </a:pathLst>
            </a:custGeom>
            <a:solidFill>
              <a:srgbClr val="FFFFFF"/>
            </a:solidFill>
          </p:spPr>
        </p:sp>
      </p:grpSp>
      <p:grpSp>
        <p:nvGrpSpPr>
          <p:cNvPr name="Group 5" id="5"/>
          <p:cNvGrpSpPr/>
          <p:nvPr/>
        </p:nvGrpSpPr>
        <p:grpSpPr>
          <a:xfrm rot="0">
            <a:off x="1219294" y="657204"/>
            <a:ext cx="15795020" cy="1907038"/>
            <a:chOff x="0" y="0"/>
            <a:chExt cx="5762066" cy="695693"/>
          </a:xfrm>
        </p:grpSpPr>
        <p:sp>
          <p:nvSpPr>
            <p:cNvPr name="Freeform 6" id="6"/>
            <p:cNvSpPr/>
            <p:nvPr/>
          </p:nvSpPr>
          <p:spPr>
            <a:xfrm flipH="false" flipV="false" rot="0">
              <a:off x="0" y="0"/>
              <a:ext cx="5762066" cy="695693"/>
            </a:xfrm>
            <a:custGeom>
              <a:avLst/>
              <a:gdLst/>
              <a:ahLst/>
              <a:cxnLst/>
              <a:rect r="r" b="b" t="t" l="l"/>
              <a:pathLst>
                <a:path h="695693" w="5762066">
                  <a:moveTo>
                    <a:pt x="0" y="0"/>
                  </a:moveTo>
                  <a:lnTo>
                    <a:pt x="5762066" y="0"/>
                  </a:lnTo>
                  <a:lnTo>
                    <a:pt x="5762066" y="695693"/>
                  </a:lnTo>
                  <a:lnTo>
                    <a:pt x="0" y="695693"/>
                  </a:lnTo>
                  <a:close/>
                </a:path>
              </a:pathLst>
            </a:custGeom>
            <a:solidFill>
              <a:srgbClr val="FFFFFF"/>
            </a:solidFill>
          </p:spPr>
        </p:sp>
      </p:grpSp>
      <p:sp>
        <p:nvSpPr>
          <p:cNvPr name="Freeform 7" id="7"/>
          <p:cNvSpPr/>
          <p:nvPr/>
        </p:nvSpPr>
        <p:spPr>
          <a:xfrm flipH="false" flipV="false" rot="-278358">
            <a:off x="-1432939" y="-269558"/>
            <a:ext cx="5304464" cy="1668495"/>
          </a:xfrm>
          <a:custGeom>
            <a:avLst/>
            <a:gdLst/>
            <a:ahLst/>
            <a:cxnLst/>
            <a:rect r="r" b="b" t="t" l="l"/>
            <a:pathLst>
              <a:path h="1668495" w="5304464">
                <a:moveTo>
                  <a:pt x="0" y="0"/>
                </a:moveTo>
                <a:lnTo>
                  <a:pt x="5304465" y="0"/>
                </a:lnTo>
                <a:lnTo>
                  <a:pt x="5304465" y="1668495"/>
                </a:lnTo>
                <a:lnTo>
                  <a:pt x="0" y="16684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8" id="8"/>
          <p:cNvSpPr/>
          <p:nvPr/>
        </p:nvSpPr>
        <p:spPr>
          <a:xfrm flipV="true">
            <a:off x="2790599" y="3077278"/>
            <a:ext cx="0" cy="5944760"/>
          </a:xfrm>
          <a:prstGeom prst="line">
            <a:avLst/>
          </a:prstGeom>
          <a:ln cap="flat" w="19050">
            <a:solidFill>
              <a:srgbClr val="CCCCCC"/>
            </a:solidFill>
            <a:prstDash val="solid"/>
            <a:headEnd type="none" len="sm" w="sm"/>
            <a:tailEnd type="none" len="sm" w="sm"/>
          </a:ln>
        </p:spPr>
      </p:sp>
      <p:grpSp>
        <p:nvGrpSpPr>
          <p:cNvPr name="Group 9" id="9"/>
          <p:cNvGrpSpPr/>
          <p:nvPr/>
        </p:nvGrpSpPr>
        <p:grpSpPr>
          <a:xfrm rot="0">
            <a:off x="15263773" y="7342234"/>
            <a:ext cx="3501080" cy="3489187"/>
            <a:chOff x="0" y="0"/>
            <a:chExt cx="4668107" cy="4652249"/>
          </a:xfrm>
        </p:grpSpPr>
        <p:sp>
          <p:nvSpPr>
            <p:cNvPr name="Freeform 10" id="10"/>
            <p:cNvSpPr/>
            <p:nvPr/>
          </p:nvSpPr>
          <p:spPr>
            <a:xfrm flipH="false" flipV="false" rot="0">
              <a:off x="0" y="247254"/>
              <a:ext cx="4668107" cy="4404995"/>
            </a:xfrm>
            <a:custGeom>
              <a:avLst/>
              <a:gdLst/>
              <a:ahLst/>
              <a:cxnLst/>
              <a:rect r="r" b="b" t="t" l="l"/>
              <a:pathLst>
                <a:path h="4404995" w="4668107">
                  <a:moveTo>
                    <a:pt x="0" y="0"/>
                  </a:moveTo>
                  <a:lnTo>
                    <a:pt x="4668107" y="0"/>
                  </a:lnTo>
                  <a:lnTo>
                    <a:pt x="4668107" y="4404995"/>
                  </a:lnTo>
                  <a:lnTo>
                    <a:pt x="0" y="44049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203414">
              <a:off x="897837" y="17964"/>
              <a:ext cx="634462" cy="909624"/>
            </a:xfrm>
            <a:custGeom>
              <a:avLst/>
              <a:gdLst/>
              <a:ahLst/>
              <a:cxnLst/>
              <a:rect r="r" b="b" t="t" l="l"/>
              <a:pathLst>
                <a:path h="909624" w="634462">
                  <a:moveTo>
                    <a:pt x="0" y="0"/>
                  </a:moveTo>
                  <a:lnTo>
                    <a:pt x="634463" y="0"/>
                  </a:lnTo>
                  <a:lnTo>
                    <a:pt x="634463" y="909623"/>
                  </a:lnTo>
                  <a:lnTo>
                    <a:pt x="0" y="90962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TextBox 12" id="12"/>
          <p:cNvSpPr txBox="true"/>
          <p:nvPr/>
        </p:nvSpPr>
        <p:spPr>
          <a:xfrm rot="0">
            <a:off x="3683996" y="848716"/>
            <a:ext cx="10839717" cy="990600"/>
          </a:xfrm>
          <a:prstGeom prst="rect">
            <a:avLst/>
          </a:prstGeom>
        </p:spPr>
        <p:txBody>
          <a:bodyPr anchor="t" rtlCol="false" tIns="0" lIns="0" bIns="0" rIns="0">
            <a:spAutoFit/>
          </a:bodyPr>
          <a:lstStyle/>
          <a:p>
            <a:pPr algn="ctr" marL="0" indent="0" lvl="0">
              <a:lnSpc>
                <a:spcPts val="7200"/>
              </a:lnSpc>
              <a:spcBef>
                <a:spcPct val="0"/>
              </a:spcBef>
            </a:pPr>
            <a:r>
              <a:rPr lang="en-US" b="true" sz="6000">
                <a:solidFill>
                  <a:srgbClr val="003EA8"/>
                </a:solidFill>
                <a:latin typeface="Telegraf Bold"/>
                <a:ea typeface="Telegraf Bold"/>
                <a:cs typeface="Telegraf Bold"/>
                <a:sym typeface="Telegraf Bold"/>
              </a:rPr>
              <a:t>Nuestras hipótesis</a:t>
            </a:r>
          </a:p>
        </p:txBody>
      </p:sp>
      <p:sp>
        <p:nvSpPr>
          <p:cNvPr name="TextBox 13" id="13"/>
          <p:cNvSpPr txBox="true"/>
          <p:nvPr/>
        </p:nvSpPr>
        <p:spPr>
          <a:xfrm rot="0">
            <a:off x="2790599" y="4383346"/>
            <a:ext cx="7347060" cy="401320"/>
          </a:xfrm>
          <a:prstGeom prst="rect">
            <a:avLst/>
          </a:prstGeom>
        </p:spPr>
        <p:txBody>
          <a:bodyPr anchor="t" rtlCol="false" tIns="0" lIns="0" bIns="0" rIns="0">
            <a:spAutoFit/>
          </a:bodyPr>
          <a:lstStyle/>
          <a:p>
            <a:pPr algn="ctr">
              <a:lnSpc>
                <a:spcPts val="3079"/>
              </a:lnSpc>
            </a:pPr>
            <a:r>
              <a:rPr lang="en-US" sz="2199">
                <a:solidFill>
                  <a:srgbClr val="000000"/>
                </a:solidFill>
                <a:latin typeface="Telegraf"/>
                <a:ea typeface="Telegraf"/>
                <a:cs typeface="Telegraf"/>
                <a:sym typeface="Telegraf"/>
                <a:hlinkClick r:id="rId10" action="ppaction://hlinksldjump"/>
              </a:rPr>
              <a:t>¿</a:t>
            </a:r>
            <a:r>
              <a:rPr lang="en-US" sz="2199">
                <a:solidFill>
                  <a:srgbClr val="000000"/>
                </a:solidFill>
                <a:latin typeface="Telegraf"/>
                <a:ea typeface="Telegraf"/>
                <a:cs typeface="Telegraf"/>
                <a:sym typeface="Telegraf"/>
              </a:rPr>
              <a:t>En qué año hubo más ataques?</a:t>
            </a:r>
          </a:p>
        </p:txBody>
      </p:sp>
      <p:sp>
        <p:nvSpPr>
          <p:cNvPr name="TextBox 14" id="14"/>
          <p:cNvSpPr txBox="true"/>
          <p:nvPr/>
        </p:nvSpPr>
        <p:spPr>
          <a:xfrm rot="0">
            <a:off x="2859991" y="5231071"/>
            <a:ext cx="7347060" cy="747265"/>
          </a:xfrm>
          <a:prstGeom prst="rect">
            <a:avLst/>
          </a:prstGeom>
        </p:spPr>
        <p:txBody>
          <a:bodyPr anchor="t" rtlCol="false" tIns="0" lIns="0" bIns="0" rIns="0">
            <a:spAutoFit/>
          </a:bodyPr>
          <a:lstStyle/>
          <a:p>
            <a:pPr algn="ctr">
              <a:lnSpc>
                <a:spcPts val="2912"/>
              </a:lnSpc>
            </a:pPr>
            <a:r>
              <a:rPr lang="en-US" sz="2080" u="none">
                <a:solidFill>
                  <a:srgbClr val="000000"/>
                </a:solidFill>
                <a:latin typeface="Telegraf"/>
                <a:ea typeface="Telegraf"/>
                <a:cs typeface="Telegraf"/>
                <a:sym typeface="Telegraf"/>
              </a:rPr>
              <a:t>¿</a:t>
            </a:r>
            <a:r>
              <a:rPr lang="en-US" sz="2080">
                <a:solidFill>
                  <a:srgbClr val="000000"/>
                </a:solidFill>
                <a:latin typeface="Telegraf"/>
                <a:ea typeface="Telegraf"/>
                <a:cs typeface="Telegraf"/>
                <a:sym typeface="Telegraf"/>
              </a:rPr>
              <a:t>Cuál es el ratio de personas que provocaron el ataque frente a las que atacaron? ¿Y respecto a las que murieron?</a:t>
            </a:r>
          </a:p>
        </p:txBody>
      </p:sp>
      <p:sp>
        <p:nvSpPr>
          <p:cNvPr name="TextBox 15" id="15"/>
          <p:cNvSpPr txBox="true"/>
          <p:nvPr/>
        </p:nvSpPr>
        <p:spPr>
          <a:xfrm rot="0">
            <a:off x="2800124" y="6477347"/>
            <a:ext cx="7378352" cy="401320"/>
          </a:xfrm>
          <a:prstGeom prst="rect">
            <a:avLst/>
          </a:prstGeom>
        </p:spPr>
        <p:txBody>
          <a:bodyPr anchor="t" rtlCol="false" tIns="0" lIns="0" bIns="0" rIns="0">
            <a:spAutoFit/>
          </a:bodyPr>
          <a:lstStyle/>
          <a:p>
            <a:pPr algn="ctr">
              <a:lnSpc>
                <a:spcPts val="3079"/>
              </a:lnSpc>
            </a:pPr>
            <a:r>
              <a:rPr lang="en-US" sz="2199">
                <a:solidFill>
                  <a:srgbClr val="000000"/>
                </a:solidFill>
                <a:latin typeface="Telegraf"/>
                <a:ea typeface="Telegraf"/>
                <a:cs typeface="Telegraf"/>
                <a:sym typeface="Telegraf"/>
                <a:hlinkClick r:id="rId11" action="ppaction://hlinksldjump"/>
              </a:rPr>
              <a:t>¿</a:t>
            </a:r>
            <a:r>
              <a:rPr lang="en-US" sz="2199">
                <a:solidFill>
                  <a:srgbClr val="000000"/>
                </a:solidFill>
                <a:latin typeface="Telegraf"/>
                <a:ea typeface="Telegraf"/>
                <a:cs typeface="Telegraf"/>
                <a:sym typeface="Telegraf"/>
              </a:rPr>
              <a:t>En qué lugar ha habido más ataques?</a:t>
            </a:r>
          </a:p>
        </p:txBody>
      </p:sp>
      <p:sp>
        <p:nvSpPr>
          <p:cNvPr name="TextBox 16" id="16"/>
          <p:cNvSpPr txBox="true"/>
          <p:nvPr/>
        </p:nvSpPr>
        <p:spPr>
          <a:xfrm rot="0">
            <a:off x="2938207" y="7275559"/>
            <a:ext cx="7347060" cy="401320"/>
          </a:xfrm>
          <a:prstGeom prst="rect">
            <a:avLst/>
          </a:prstGeom>
        </p:spPr>
        <p:txBody>
          <a:bodyPr anchor="t" rtlCol="false" tIns="0" lIns="0" bIns="0" rIns="0">
            <a:spAutoFit/>
          </a:bodyPr>
          <a:lstStyle/>
          <a:p>
            <a:pPr algn="ctr">
              <a:lnSpc>
                <a:spcPts val="3079"/>
              </a:lnSpc>
            </a:pPr>
            <a:r>
              <a:rPr lang="en-US" sz="2199">
                <a:solidFill>
                  <a:srgbClr val="000000"/>
                </a:solidFill>
                <a:latin typeface="Telegraf"/>
                <a:ea typeface="Telegraf"/>
                <a:cs typeface="Telegraf"/>
                <a:sym typeface="Telegraf"/>
                <a:hlinkClick r:id="rId12" action="ppaction://hlinksldjump"/>
              </a:rPr>
              <a:t>¿</a:t>
            </a:r>
            <a:r>
              <a:rPr lang="en-US" sz="2199">
                <a:solidFill>
                  <a:srgbClr val="000000"/>
                </a:solidFill>
                <a:latin typeface="Telegraf"/>
                <a:ea typeface="Telegraf"/>
                <a:cs typeface="Telegraf"/>
                <a:sym typeface="Telegraf"/>
              </a:rPr>
              <a:t>Qué actividad provocó más fallecidos en los ataques?</a:t>
            </a:r>
          </a:p>
        </p:txBody>
      </p:sp>
      <p:sp>
        <p:nvSpPr>
          <p:cNvPr name="TextBox 17" id="17"/>
          <p:cNvSpPr txBox="true"/>
          <p:nvPr/>
        </p:nvSpPr>
        <p:spPr>
          <a:xfrm rot="0">
            <a:off x="2859991" y="8076294"/>
            <a:ext cx="7425276" cy="791845"/>
          </a:xfrm>
          <a:prstGeom prst="rect">
            <a:avLst/>
          </a:prstGeom>
        </p:spPr>
        <p:txBody>
          <a:bodyPr anchor="t" rtlCol="false" tIns="0" lIns="0" bIns="0" rIns="0">
            <a:spAutoFit/>
          </a:bodyPr>
          <a:lstStyle/>
          <a:p>
            <a:pPr algn="ctr">
              <a:lnSpc>
                <a:spcPts val="3079"/>
              </a:lnSpc>
            </a:pPr>
            <a:r>
              <a:rPr lang="en-US" sz="2199">
                <a:solidFill>
                  <a:srgbClr val="000000"/>
                </a:solidFill>
                <a:latin typeface="Telegraf"/>
                <a:ea typeface="Telegraf"/>
                <a:cs typeface="Telegraf"/>
                <a:sym typeface="Telegraf"/>
                <a:hlinkClick r:id="rId13" action="ppaction://hlinksldjump"/>
              </a:rPr>
              <a:t>¿</a:t>
            </a:r>
            <a:r>
              <a:rPr lang="en-US" sz="2199">
                <a:solidFill>
                  <a:srgbClr val="000000"/>
                </a:solidFill>
                <a:latin typeface="Telegraf"/>
                <a:ea typeface="Telegraf"/>
                <a:cs typeface="Telegraf"/>
                <a:sym typeface="Telegraf"/>
              </a:rPr>
              <a:t>En qué época del año (dividido por trimestres) ha habido más ataques?</a:t>
            </a:r>
          </a:p>
        </p:txBody>
      </p:sp>
      <p:sp>
        <p:nvSpPr>
          <p:cNvPr name="TextBox 18" id="18"/>
          <p:cNvSpPr txBox="true"/>
          <p:nvPr/>
        </p:nvSpPr>
        <p:spPr>
          <a:xfrm rot="0">
            <a:off x="2831416" y="3240184"/>
            <a:ext cx="6906546" cy="791845"/>
          </a:xfrm>
          <a:prstGeom prst="rect">
            <a:avLst/>
          </a:prstGeom>
        </p:spPr>
        <p:txBody>
          <a:bodyPr anchor="t" rtlCol="false" tIns="0" lIns="0" bIns="0" rIns="0">
            <a:spAutoFit/>
          </a:bodyPr>
          <a:lstStyle/>
          <a:p>
            <a:pPr algn="ctr">
              <a:lnSpc>
                <a:spcPts val="3079"/>
              </a:lnSpc>
            </a:pPr>
            <a:r>
              <a:rPr lang="en-US" sz="2199">
                <a:solidFill>
                  <a:srgbClr val="000000"/>
                </a:solidFill>
                <a:latin typeface="Telegraf"/>
                <a:ea typeface="Telegraf"/>
                <a:cs typeface="Telegraf"/>
                <a:sym typeface="Telegraf"/>
              </a:rPr>
              <a:t>¿Cuál es el sexo con más fallecidos por ataque de tiburones? </a:t>
            </a:r>
          </a:p>
        </p:txBody>
      </p:sp>
      <p:sp>
        <p:nvSpPr>
          <p:cNvPr name="TextBox 19" id="19"/>
          <p:cNvSpPr txBox="true"/>
          <p:nvPr/>
        </p:nvSpPr>
        <p:spPr>
          <a:xfrm rot="0">
            <a:off x="2065325" y="3073109"/>
            <a:ext cx="766091" cy="895350"/>
          </a:xfrm>
          <a:prstGeom prst="rect">
            <a:avLst/>
          </a:prstGeom>
        </p:spPr>
        <p:txBody>
          <a:bodyPr anchor="t" rtlCol="false" tIns="0" lIns="0" bIns="0" rIns="0">
            <a:spAutoFit/>
          </a:bodyPr>
          <a:lstStyle/>
          <a:p>
            <a:pPr algn="ctr" marL="0" indent="0" lvl="0">
              <a:lnSpc>
                <a:spcPts val="6599"/>
              </a:lnSpc>
              <a:spcBef>
                <a:spcPct val="0"/>
              </a:spcBef>
            </a:pPr>
            <a:r>
              <a:rPr lang="en-US" b="true" sz="5499">
                <a:solidFill>
                  <a:srgbClr val="003EA8"/>
                </a:solidFill>
                <a:latin typeface="Telegraf Bold"/>
                <a:ea typeface="Telegraf Bold"/>
                <a:cs typeface="Telegraf Bold"/>
                <a:sym typeface="Telegraf Bold"/>
              </a:rPr>
              <a:t>1.</a:t>
            </a:r>
          </a:p>
        </p:txBody>
      </p:sp>
      <p:sp>
        <p:nvSpPr>
          <p:cNvPr name="TextBox 20" id="20"/>
          <p:cNvSpPr txBox="true"/>
          <p:nvPr/>
        </p:nvSpPr>
        <p:spPr>
          <a:xfrm rot="0">
            <a:off x="2034033" y="4154746"/>
            <a:ext cx="766091" cy="895350"/>
          </a:xfrm>
          <a:prstGeom prst="rect">
            <a:avLst/>
          </a:prstGeom>
        </p:spPr>
        <p:txBody>
          <a:bodyPr anchor="t" rtlCol="false" tIns="0" lIns="0" bIns="0" rIns="0">
            <a:spAutoFit/>
          </a:bodyPr>
          <a:lstStyle/>
          <a:p>
            <a:pPr algn="ctr" marL="0" indent="0" lvl="0">
              <a:lnSpc>
                <a:spcPts val="6599"/>
              </a:lnSpc>
              <a:spcBef>
                <a:spcPct val="0"/>
              </a:spcBef>
            </a:pPr>
            <a:r>
              <a:rPr lang="en-US" b="true" sz="5499">
                <a:solidFill>
                  <a:srgbClr val="003EA8"/>
                </a:solidFill>
                <a:latin typeface="Telegraf Bold"/>
                <a:ea typeface="Telegraf Bold"/>
                <a:cs typeface="Telegraf Bold"/>
                <a:sym typeface="Telegraf Bold"/>
              </a:rPr>
              <a:t>2.</a:t>
            </a:r>
          </a:p>
        </p:txBody>
      </p:sp>
      <p:sp>
        <p:nvSpPr>
          <p:cNvPr name="TextBox 21" id="21"/>
          <p:cNvSpPr txBox="true"/>
          <p:nvPr/>
        </p:nvSpPr>
        <p:spPr>
          <a:xfrm rot="0">
            <a:off x="2065325" y="5240596"/>
            <a:ext cx="766091" cy="895350"/>
          </a:xfrm>
          <a:prstGeom prst="rect">
            <a:avLst/>
          </a:prstGeom>
        </p:spPr>
        <p:txBody>
          <a:bodyPr anchor="t" rtlCol="false" tIns="0" lIns="0" bIns="0" rIns="0">
            <a:spAutoFit/>
          </a:bodyPr>
          <a:lstStyle/>
          <a:p>
            <a:pPr algn="ctr" marL="0" indent="0" lvl="0">
              <a:lnSpc>
                <a:spcPts val="6599"/>
              </a:lnSpc>
              <a:spcBef>
                <a:spcPct val="0"/>
              </a:spcBef>
            </a:pPr>
            <a:r>
              <a:rPr lang="en-US" b="true" sz="5499">
                <a:solidFill>
                  <a:srgbClr val="003EA8"/>
                </a:solidFill>
                <a:latin typeface="Telegraf Bold"/>
                <a:ea typeface="Telegraf Bold"/>
                <a:cs typeface="Telegraf Bold"/>
                <a:sym typeface="Telegraf Bold"/>
              </a:rPr>
              <a:t>3.</a:t>
            </a:r>
          </a:p>
        </p:txBody>
      </p:sp>
      <p:sp>
        <p:nvSpPr>
          <p:cNvPr name="TextBox 22" id="22"/>
          <p:cNvSpPr txBox="true"/>
          <p:nvPr/>
        </p:nvSpPr>
        <p:spPr>
          <a:xfrm rot="0">
            <a:off x="2093900" y="6114291"/>
            <a:ext cx="766091" cy="895350"/>
          </a:xfrm>
          <a:prstGeom prst="rect">
            <a:avLst/>
          </a:prstGeom>
        </p:spPr>
        <p:txBody>
          <a:bodyPr anchor="t" rtlCol="false" tIns="0" lIns="0" bIns="0" rIns="0">
            <a:spAutoFit/>
          </a:bodyPr>
          <a:lstStyle/>
          <a:p>
            <a:pPr algn="ctr" marL="0" indent="0" lvl="0">
              <a:lnSpc>
                <a:spcPts val="6599"/>
              </a:lnSpc>
              <a:spcBef>
                <a:spcPct val="0"/>
              </a:spcBef>
            </a:pPr>
            <a:r>
              <a:rPr lang="en-US" b="true" sz="5499">
                <a:solidFill>
                  <a:srgbClr val="003EA8"/>
                </a:solidFill>
                <a:latin typeface="Telegraf Bold"/>
                <a:ea typeface="Telegraf Bold"/>
                <a:cs typeface="Telegraf Bold"/>
                <a:sym typeface="Telegraf Bold"/>
              </a:rPr>
              <a:t>4.</a:t>
            </a:r>
          </a:p>
        </p:txBody>
      </p:sp>
      <p:sp>
        <p:nvSpPr>
          <p:cNvPr name="TextBox 23" id="23"/>
          <p:cNvSpPr txBox="true"/>
          <p:nvPr/>
        </p:nvSpPr>
        <p:spPr>
          <a:xfrm rot="0">
            <a:off x="2093900" y="7028544"/>
            <a:ext cx="766091" cy="895350"/>
          </a:xfrm>
          <a:prstGeom prst="rect">
            <a:avLst/>
          </a:prstGeom>
        </p:spPr>
        <p:txBody>
          <a:bodyPr anchor="t" rtlCol="false" tIns="0" lIns="0" bIns="0" rIns="0">
            <a:spAutoFit/>
          </a:bodyPr>
          <a:lstStyle/>
          <a:p>
            <a:pPr algn="ctr" marL="0" indent="0" lvl="0">
              <a:lnSpc>
                <a:spcPts val="6599"/>
              </a:lnSpc>
              <a:spcBef>
                <a:spcPct val="0"/>
              </a:spcBef>
            </a:pPr>
            <a:r>
              <a:rPr lang="en-US" b="true" sz="5499">
                <a:solidFill>
                  <a:srgbClr val="003EA8"/>
                </a:solidFill>
                <a:latin typeface="Telegraf Bold"/>
                <a:ea typeface="Telegraf Bold"/>
                <a:cs typeface="Telegraf Bold"/>
                <a:sym typeface="Telegraf Bold"/>
              </a:rPr>
              <a:t>5.</a:t>
            </a:r>
          </a:p>
        </p:txBody>
      </p:sp>
      <p:sp>
        <p:nvSpPr>
          <p:cNvPr name="TextBox 24" id="24"/>
          <p:cNvSpPr txBox="true"/>
          <p:nvPr/>
        </p:nvSpPr>
        <p:spPr>
          <a:xfrm rot="0">
            <a:off x="2034033" y="7942944"/>
            <a:ext cx="766091" cy="895350"/>
          </a:xfrm>
          <a:prstGeom prst="rect">
            <a:avLst/>
          </a:prstGeom>
        </p:spPr>
        <p:txBody>
          <a:bodyPr anchor="t" rtlCol="false" tIns="0" lIns="0" bIns="0" rIns="0">
            <a:spAutoFit/>
          </a:bodyPr>
          <a:lstStyle/>
          <a:p>
            <a:pPr algn="ctr" marL="0" indent="0" lvl="0">
              <a:lnSpc>
                <a:spcPts val="6599"/>
              </a:lnSpc>
              <a:spcBef>
                <a:spcPct val="0"/>
              </a:spcBef>
            </a:pPr>
            <a:r>
              <a:rPr lang="en-US" b="true" sz="5499">
                <a:solidFill>
                  <a:srgbClr val="003EA8"/>
                </a:solidFill>
                <a:latin typeface="Telegraf Bold"/>
                <a:ea typeface="Telegraf Bold"/>
                <a:cs typeface="Telegraf Bold"/>
                <a:sym typeface="Telegraf Bold"/>
              </a:rPr>
              <a:t>6.</a:t>
            </a:r>
          </a:p>
        </p:txBody>
      </p:sp>
      <p:sp>
        <p:nvSpPr>
          <p:cNvPr name="TextBox 25" id="25"/>
          <p:cNvSpPr txBox="true"/>
          <p:nvPr/>
        </p:nvSpPr>
        <p:spPr>
          <a:xfrm rot="0">
            <a:off x="1464280" y="1772641"/>
            <a:ext cx="15795020" cy="791845"/>
          </a:xfrm>
          <a:prstGeom prst="rect">
            <a:avLst/>
          </a:prstGeom>
        </p:spPr>
        <p:txBody>
          <a:bodyPr anchor="t" rtlCol="false" tIns="0" lIns="0" bIns="0" rIns="0">
            <a:spAutoFit/>
          </a:bodyPr>
          <a:lstStyle/>
          <a:p>
            <a:pPr algn="ctr">
              <a:lnSpc>
                <a:spcPts val="3079"/>
              </a:lnSpc>
              <a:spcBef>
                <a:spcPct val="0"/>
              </a:spcBef>
            </a:pPr>
            <a:r>
              <a:rPr lang="en-US" sz="2199">
                <a:solidFill>
                  <a:srgbClr val="000000"/>
                </a:solidFill>
                <a:latin typeface="Telegraf"/>
                <a:ea typeface="Telegraf"/>
                <a:cs typeface="Telegraf"/>
                <a:sym typeface="Telegraf"/>
              </a:rPr>
              <a:t>Nuestros objetivos serán segmentar el perfil de riesgo para construir un protocolo de prevención y definir qué tipo de ataque existe con el fin de delimitar la manera de ejecutarlo. </a:t>
            </a:r>
          </a:p>
        </p:txBody>
      </p:sp>
      <p:sp>
        <p:nvSpPr>
          <p:cNvPr name="TextBox 26" id="26"/>
          <p:cNvSpPr txBox="true"/>
          <p:nvPr/>
        </p:nvSpPr>
        <p:spPr>
          <a:xfrm rot="0">
            <a:off x="10432505" y="3297726"/>
            <a:ext cx="4784070" cy="791845"/>
          </a:xfrm>
          <a:prstGeom prst="rect">
            <a:avLst/>
          </a:prstGeom>
        </p:spPr>
        <p:txBody>
          <a:bodyPr anchor="t" rtlCol="false" tIns="0" lIns="0" bIns="0" rIns="0">
            <a:spAutoFit/>
          </a:bodyPr>
          <a:lstStyle/>
          <a:p>
            <a:pPr algn="ctr">
              <a:lnSpc>
                <a:spcPts val="3079"/>
              </a:lnSpc>
            </a:pPr>
            <a:r>
              <a:rPr lang="en-US" b="true" sz="2199">
                <a:solidFill>
                  <a:srgbClr val="000000"/>
                </a:solidFill>
                <a:latin typeface="Telegraf Bold"/>
                <a:ea typeface="Telegraf Bold"/>
                <a:cs typeface="Telegraf Bold"/>
                <a:sym typeface="Telegraf Bold"/>
              </a:rPr>
              <a:t>Filtramos los valores que nos interesan para el df</a:t>
            </a:r>
          </a:p>
        </p:txBody>
      </p:sp>
      <p:sp>
        <p:nvSpPr>
          <p:cNvPr name="TextBox 27" id="27"/>
          <p:cNvSpPr txBox="true"/>
          <p:nvPr/>
        </p:nvSpPr>
        <p:spPr>
          <a:xfrm rot="0">
            <a:off x="11577637" y="2982766"/>
            <a:ext cx="2701826" cy="381635"/>
          </a:xfrm>
          <a:prstGeom prst="rect">
            <a:avLst/>
          </a:prstGeom>
        </p:spPr>
        <p:txBody>
          <a:bodyPr anchor="t" rtlCol="false" tIns="0" lIns="0" bIns="0" rIns="0">
            <a:spAutoFit/>
          </a:bodyPr>
          <a:lstStyle/>
          <a:p>
            <a:pPr algn="ctr">
              <a:lnSpc>
                <a:spcPts val="2859"/>
              </a:lnSpc>
              <a:spcBef>
                <a:spcPct val="0"/>
              </a:spcBef>
            </a:pPr>
            <a:r>
              <a:rPr lang="en-US" b="true" sz="2199" u="sng">
                <a:solidFill>
                  <a:srgbClr val="000000"/>
                </a:solidFill>
                <a:latin typeface="Telegraf Bold"/>
                <a:ea typeface="Telegraf Bold"/>
                <a:cs typeface="Telegraf Bold"/>
                <a:sym typeface="Telegraf Bold"/>
              </a:rPr>
              <a:t>NUESTRO MÉTODO </a:t>
            </a:r>
          </a:p>
        </p:txBody>
      </p:sp>
      <p:sp>
        <p:nvSpPr>
          <p:cNvPr name="TextBox 28" id="28"/>
          <p:cNvSpPr txBox="true"/>
          <p:nvPr/>
        </p:nvSpPr>
        <p:spPr>
          <a:xfrm rot="0">
            <a:off x="10432505" y="4282064"/>
            <a:ext cx="4784070" cy="791845"/>
          </a:xfrm>
          <a:prstGeom prst="rect">
            <a:avLst/>
          </a:prstGeom>
        </p:spPr>
        <p:txBody>
          <a:bodyPr anchor="t" rtlCol="false" tIns="0" lIns="0" bIns="0" rIns="0">
            <a:spAutoFit/>
          </a:bodyPr>
          <a:lstStyle/>
          <a:p>
            <a:pPr algn="ctr">
              <a:lnSpc>
                <a:spcPts val="3079"/>
              </a:lnSpc>
            </a:pPr>
            <a:r>
              <a:rPr lang="en-US" b="true" sz="2199">
                <a:solidFill>
                  <a:srgbClr val="000000"/>
                </a:solidFill>
                <a:latin typeface="Telegraf Bold"/>
                <a:ea typeface="Telegraf Bold"/>
                <a:cs typeface="Telegraf Bold"/>
                <a:sym typeface="Telegraf Bold"/>
              </a:rPr>
              <a:t>Decidimos quedarnos con valores solo &gt; 1000 </a:t>
            </a:r>
          </a:p>
        </p:txBody>
      </p:sp>
      <p:sp>
        <p:nvSpPr>
          <p:cNvPr name="AutoShape 29" id="29"/>
          <p:cNvSpPr/>
          <p:nvPr/>
        </p:nvSpPr>
        <p:spPr>
          <a:xfrm flipV="true">
            <a:off x="2790600" y="5142750"/>
            <a:ext cx="13300600" cy="1499"/>
          </a:xfrm>
          <a:prstGeom prst="line">
            <a:avLst/>
          </a:prstGeom>
          <a:ln cap="flat" w="19050">
            <a:solidFill>
              <a:srgbClr val="CCCCCC"/>
            </a:solidFill>
            <a:prstDash val="solid"/>
            <a:headEnd type="none" len="sm" w="sm"/>
            <a:tailEnd type="none" len="sm" w="sm"/>
          </a:ln>
        </p:spPr>
      </p:sp>
      <p:sp>
        <p:nvSpPr>
          <p:cNvPr name="AutoShape 30" id="30"/>
          <p:cNvSpPr/>
          <p:nvPr/>
        </p:nvSpPr>
        <p:spPr>
          <a:xfrm flipV="true">
            <a:off x="2800125" y="4210397"/>
            <a:ext cx="13300600" cy="1499"/>
          </a:xfrm>
          <a:prstGeom prst="line">
            <a:avLst/>
          </a:prstGeom>
          <a:ln cap="flat" w="19050">
            <a:solidFill>
              <a:srgbClr val="CCCCCC"/>
            </a:solidFill>
            <a:prstDash val="solid"/>
            <a:headEnd type="none" len="sm" w="sm"/>
            <a:tailEnd type="none" len="sm" w="sm"/>
          </a:ln>
        </p:spPr>
      </p:sp>
      <p:sp>
        <p:nvSpPr>
          <p:cNvPr name="AutoShape 31" id="31"/>
          <p:cNvSpPr/>
          <p:nvPr/>
        </p:nvSpPr>
        <p:spPr>
          <a:xfrm flipV="true">
            <a:off x="2800126" y="6288346"/>
            <a:ext cx="13300600" cy="1499"/>
          </a:xfrm>
          <a:prstGeom prst="line">
            <a:avLst/>
          </a:prstGeom>
          <a:ln cap="flat" w="19050">
            <a:solidFill>
              <a:srgbClr val="CCCCCC"/>
            </a:solidFill>
            <a:prstDash val="solid"/>
            <a:headEnd type="none" len="sm" w="sm"/>
            <a:tailEnd type="none" len="sm" w="sm"/>
          </a:ln>
        </p:spPr>
      </p:sp>
      <p:sp>
        <p:nvSpPr>
          <p:cNvPr name="AutoShape 32" id="32"/>
          <p:cNvSpPr/>
          <p:nvPr/>
        </p:nvSpPr>
        <p:spPr>
          <a:xfrm flipV="true">
            <a:off x="2790599" y="7152516"/>
            <a:ext cx="13300600" cy="1499"/>
          </a:xfrm>
          <a:prstGeom prst="line">
            <a:avLst/>
          </a:prstGeom>
          <a:ln cap="flat" w="19050">
            <a:solidFill>
              <a:srgbClr val="CCCCCC"/>
            </a:solidFill>
            <a:prstDash val="solid"/>
            <a:headEnd type="none" len="sm" w="sm"/>
            <a:tailEnd type="none" len="sm" w="sm"/>
          </a:ln>
        </p:spPr>
      </p:sp>
      <p:sp>
        <p:nvSpPr>
          <p:cNvPr name="AutoShape 33" id="33"/>
          <p:cNvSpPr/>
          <p:nvPr/>
        </p:nvSpPr>
        <p:spPr>
          <a:xfrm flipV="true">
            <a:off x="2790601" y="7981044"/>
            <a:ext cx="13300600" cy="1499"/>
          </a:xfrm>
          <a:prstGeom prst="line">
            <a:avLst/>
          </a:prstGeom>
          <a:ln cap="flat" w="19050">
            <a:solidFill>
              <a:srgbClr val="CCCCCC"/>
            </a:solidFill>
            <a:prstDash val="solid"/>
            <a:headEnd type="none" len="sm" w="sm"/>
            <a:tailEnd type="none" len="sm" w="sm"/>
          </a:ln>
        </p:spPr>
      </p:sp>
      <p:sp>
        <p:nvSpPr>
          <p:cNvPr name="AutoShape 34" id="34"/>
          <p:cNvSpPr/>
          <p:nvPr/>
        </p:nvSpPr>
        <p:spPr>
          <a:xfrm flipV="true">
            <a:off x="2790598" y="9020539"/>
            <a:ext cx="13300600" cy="1499"/>
          </a:xfrm>
          <a:prstGeom prst="line">
            <a:avLst/>
          </a:prstGeom>
          <a:ln cap="flat" w="19050">
            <a:solidFill>
              <a:srgbClr val="CCCCCC"/>
            </a:solidFill>
            <a:prstDash val="solid"/>
            <a:headEnd type="none" len="sm" w="sm"/>
            <a:tailEnd type="none" len="sm" w="sm"/>
          </a:ln>
        </p:spPr>
      </p:sp>
      <p:sp>
        <p:nvSpPr>
          <p:cNvPr name="TextBox 35" id="35"/>
          <p:cNvSpPr txBox="true"/>
          <p:nvPr/>
        </p:nvSpPr>
        <p:spPr>
          <a:xfrm rot="0">
            <a:off x="10432505" y="5152356"/>
            <a:ext cx="4992090" cy="1137489"/>
          </a:xfrm>
          <a:prstGeom prst="rect">
            <a:avLst/>
          </a:prstGeom>
        </p:spPr>
        <p:txBody>
          <a:bodyPr anchor="t" rtlCol="false" tIns="0" lIns="0" bIns="0" rIns="0">
            <a:spAutoFit/>
          </a:bodyPr>
          <a:lstStyle/>
          <a:p>
            <a:pPr algn="ctr">
              <a:lnSpc>
                <a:spcPts val="2956"/>
              </a:lnSpc>
            </a:pPr>
            <a:r>
              <a:rPr lang="en-US" b="true" sz="2111">
                <a:solidFill>
                  <a:srgbClr val="000000"/>
                </a:solidFill>
                <a:latin typeface="Telegraf Bold"/>
                <a:ea typeface="Telegraf Bold"/>
                <a:cs typeface="Telegraf Bold"/>
                <a:sym typeface="Telegraf Bold"/>
              </a:rPr>
              <a:t>Decidimos crear nuevas categorías y hacer replace de algunos valores únicos</a:t>
            </a:r>
          </a:p>
        </p:txBody>
      </p:sp>
      <p:sp>
        <p:nvSpPr>
          <p:cNvPr name="TextBox 36" id="36"/>
          <p:cNvSpPr txBox="true"/>
          <p:nvPr/>
        </p:nvSpPr>
        <p:spPr>
          <a:xfrm rot="0">
            <a:off x="10584905" y="6528629"/>
            <a:ext cx="4992090" cy="387858"/>
          </a:xfrm>
          <a:prstGeom prst="rect">
            <a:avLst/>
          </a:prstGeom>
        </p:spPr>
        <p:txBody>
          <a:bodyPr anchor="t" rtlCol="false" tIns="0" lIns="0" bIns="0" rIns="0">
            <a:spAutoFit/>
          </a:bodyPr>
          <a:lstStyle/>
          <a:p>
            <a:pPr algn="ctr">
              <a:lnSpc>
                <a:spcPts val="2956"/>
              </a:lnSpc>
            </a:pPr>
            <a:r>
              <a:rPr lang="en-US" b="true" sz="2111">
                <a:solidFill>
                  <a:srgbClr val="000000"/>
                </a:solidFill>
                <a:latin typeface="Telegraf Bold"/>
                <a:ea typeface="Telegraf Bold"/>
                <a:cs typeface="Telegraf Bold"/>
                <a:sym typeface="Telegraf Bold"/>
              </a:rPr>
              <a:t>Unificación de nombres de países</a:t>
            </a:r>
          </a:p>
        </p:txBody>
      </p:sp>
      <p:sp>
        <p:nvSpPr>
          <p:cNvPr name="TextBox 37" id="37"/>
          <p:cNvSpPr txBox="true"/>
          <p:nvPr/>
        </p:nvSpPr>
        <p:spPr>
          <a:xfrm rot="0">
            <a:off x="10584905" y="7211166"/>
            <a:ext cx="4992090" cy="762674"/>
          </a:xfrm>
          <a:prstGeom prst="rect">
            <a:avLst/>
          </a:prstGeom>
        </p:spPr>
        <p:txBody>
          <a:bodyPr anchor="t" rtlCol="false" tIns="0" lIns="0" bIns="0" rIns="0">
            <a:spAutoFit/>
          </a:bodyPr>
          <a:lstStyle/>
          <a:p>
            <a:pPr algn="ctr">
              <a:lnSpc>
                <a:spcPts val="2956"/>
              </a:lnSpc>
            </a:pPr>
            <a:r>
              <a:rPr lang="en-US" b="true" sz="2111">
                <a:solidFill>
                  <a:srgbClr val="000000"/>
                </a:solidFill>
                <a:latin typeface="Telegraf Bold"/>
                <a:ea typeface="Telegraf Bold"/>
                <a:cs typeface="Telegraf Bold"/>
                <a:sym typeface="Telegraf Bold"/>
              </a:rPr>
              <a:t>Unificamos datos y agrupamos variantes.</a:t>
            </a:r>
          </a:p>
        </p:txBody>
      </p:sp>
      <p:sp>
        <p:nvSpPr>
          <p:cNvPr name="TextBox 38" id="38"/>
          <p:cNvSpPr txBox="true"/>
          <p:nvPr/>
        </p:nvSpPr>
        <p:spPr>
          <a:xfrm rot="0">
            <a:off x="10342417" y="8105465"/>
            <a:ext cx="4992090" cy="762674"/>
          </a:xfrm>
          <a:prstGeom prst="rect">
            <a:avLst/>
          </a:prstGeom>
        </p:spPr>
        <p:txBody>
          <a:bodyPr anchor="t" rtlCol="false" tIns="0" lIns="0" bIns="0" rIns="0">
            <a:spAutoFit/>
          </a:bodyPr>
          <a:lstStyle/>
          <a:p>
            <a:pPr algn="ctr">
              <a:lnSpc>
                <a:spcPts val="2956"/>
              </a:lnSpc>
            </a:pPr>
            <a:r>
              <a:rPr lang="en-US" b="true" sz="2111">
                <a:solidFill>
                  <a:srgbClr val="000000"/>
                </a:solidFill>
                <a:latin typeface="Telegraf Bold"/>
                <a:ea typeface="Telegraf Bold"/>
                <a:cs typeface="Telegraf Bold"/>
                <a:sym typeface="Telegraf Bold"/>
              </a:rPr>
              <a:t>Utilizamos regex para solo quedarnos con los meses.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44937" cy="1906519"/>
            <a:chOff x="0" y="0"/>
            <a:chExt cx="5999157" cy="695503"/>
          </a:xfrm>
        </p:grpSpPr>
        <p:sp>
          <p:nvSpPr>
            <p:cNvPr name="Freeform 4" id="4"/>
            <p:cNvSpPr/>
            <p:nvPr/>
          </p:nvSpPr>
          <p:spPr>
            <a:xfrm flipH="false" flipV="false" rot="0">
              <a:off x="0" y="0"/>
              <a:ext cx="5999157" cy="695503"/>
            </a:xfrm>
            <a:custGeom>
              <a:avLst/>
              <a:gdLst/>
              <a:ahLst/>
              <a:cxnLst/>
              <a:rect r="r" b="b" t="t" l="l"/>
              <a:pathLst>
                <a:path h="695503" w="5999157">
                  <a:moveTo>
                    <a:pt x="0" y="0"/>
                  </a:moveTo>
                  <a:lnTo>
                    <a:pt x="5999157" y="0"/>
                  </a:lnTo>
                  <a:lnTo>
                    <a:pt x="5999157" y="695503"/>
                  </a:lnTo>
                  <a:lnTo>
                    <a:pt x="0" y="695503"/>
                  </a:lnTo>
                  <a:close/>
                </a:path>
              </a:pathLst>
            </a:custGeom>
            <a:solidFill>
              <a:srgbClr val="FFFFFF"/>
            </a:solidFill>
          </p:spPr>
        </p:sp>
      </p:grpSp>
      <p:sp>
        <p:nvSpPr>
          <p:cNvPr name="TextBox 5" id="5"/>
          <p:cNvSpPr txBox="true"/>
          <p:nvPr/>
        </p:nvSpPr>
        <p:spPr>
          <a:xfrm rot="0">
            <a:off x="1926051" y="829414"/>
            <a:ext cx="14435898" cy="1428750"/>
          </a:xfrm>
          <a:prstGeom prst="rect">
            <a:avLst/>
          </a:prstGeom>
        </p:spPr>
        <p:txBody>
          <a:bodyPr anchor="t" rtlCol="false" tIns="0" lIns="0" bIns="0" rIns="0">
            <a:spAutoFit/>
          </a:bodyPr>
          <a:lstStyle/>
          <a:p>
            <a:pPr algn="ctr">
              <a:lnSpc>
                <a:spcPts val="10560"/>
              </a:lnSpc>
            </a:pPr>
            <a:r>
              <a:rPr lang="en-US" b="true" sz="8800">
                <a:solidFill>
                  <a:srgbClr val="003EA8"/>
                </a:solidFill>
                <a:latin typeface="Telegraf Bold"/>
                <a:ea typeface="Telegraf Bold"/>
                <a:cs typeface="Telegraf Bold"/>
                <a:sym typeface="Telegraf Bold"/>
              </a:rPr>
              <a:t>Obstáculos Encontrados</a:t>
            </a:r>
          </a:p>
        </p:txBody>
      </p:sp>
      <p:grpSp>
        <p:nvGrpSpPr>
          <p:cNvPr name="Group 6" id="6"/>
          <p:cNvGrpSpPr/>
          <p:nvPr/>
        </p:nvGrpSpPr>
        <p:grpSpPr>
          <a:xfrm rot="0">
            <a:off x="2484326" y="2925507"/>
            <a:ext cx="6072741" cy="1226260"/>
            <a:chOff x="0" y="0"/>
            <a:chExt cx="2215352" cy="447343"/>
          </a:xfrm>
        </p:grpSpPr>
        <p:sp>
          <p:nvSpPr>
            <p:cNvPr name="Freeform 7" id="7"/>
            <p:cNvSpPr/>
            <p:nvPr/>
          </p:nvSpPr>
          <p:spPr>
            <a:xfrm flipH="false" flipV="false" rot="0">
              <a:off x="0" y="0"/>
              <a:ext cx="2215352" cy="447343"/>
            </a:xfrm>
            <a:custGeom>
              <a:avLst/>
              <a:gdLst/>
              <a:ahLst/>
              <a:cxnLst/>
              <a:rect r="r" b="b" t="t" l="l"/>
              <a:pathLst>
                <a:path h="447343" w="2215352">
                  <a:moveTo>
                    <a:pt x="0" y="0"/>
                  </a:moveTo>
                  <a:lnTo>
                    <a:pt x="2215352" y="0"/>
                  </a:lnTo>
                  <a:lnTo>
                    <a:pt x="2215352" y="447343"/>
                  </a:lnTo>
                  <a:lnTo>
                    <a:pt x="0" y="447343"/>
                  </a:lnTo>
                  <a:close/>
                </a:path>
              </a:pathLst>
            </a:custGeom>
            <a:solidFill>
              <a:srgbClr val="FFFFFF"/>
            </a:solidFill>
          </p:spPr>
        </p:sp>
      </p:grpSp>
      <p:grpSp>
        <p:nvGrpSpPr>
          <p:cNvPr name="Group 8" id="8"/>
          <p:cNvGrpSpPr/>
          <p:nvPr/>
        </p:nvGrpSpPr>
        <p:grpSpPr>
          <a:xfrm rot="0">
            <a:off x="10562341" y="2917134"/>
            <a:ext cx="6028885" cy="1234633"/>
            <a:chOff x="0" y="0"/>
            <a:chExt cx="2199354" cy="450398"/>
          </a:xfrm>
        </p:grpSpPr>
        <p:sp>
          <p:nvSpPr>
            <p:cNvPr name="Freeform 9" id="9"/>
            <p:cNvSpPr/>
            <p:nvPr/>
          </p:nvSpPr>
          <p:spPr>
            <a:xfrm flipH="false" flipV="false" rot="0">
              <a:off x="0" y="0"/>
              <a:ext cx="2199354" cy="450398"/>
            </a:xfrm>
            <a:custGeom>
              <a:avLst/>
              <a:gdLst/>
              <a:ahLst/>
              <a:cxnLst/>
              <a:rect r="r" b="b" t="t" l="l"/>
              <a:pathLst>
                <a:path h="450398" w="2199354">
                  <a:moveTo>
                    <a:pt x="0" y="0"/>
                  </a:moveTo>
                  <a:lnTo>
                    <a:pt x="2199354" y="0"/>
                  </a:lnTo>
                  <a:lnTo>
                    <a:pt x="2199354" y="450398"/>
                  </a:lnTo>
                  <a:lnTo>
                    <a:pt x="0" y="450398"/>
                  </a:lnTo>
                  <a:close/>
                </a:path>
              </a:pathLst>
            </a:custGeom>
            <a:solidFill>
              <a:srgbClr val="FFFFFF"/>
            </a:solidFill>
          </p:spPr>
        </p:sp>
      </p:grpSp>
      <p:sp>
        <p:nvSpPr>
          <p:cNvPr name="TextBox 10" id="10"/>
          <p:cNvSpPr txBox="true"/>
          <p:nvPr/>
        </p:nvSpPr>
        <p:spPr>
          <a:xfrm rot="0">
            <a:off x="2888186" y="3270849"/>
            <a:ext cx="5265021" cy="603250"/>
          </a:xfrm>
          <a:prstGeom prst="rect">
            <a:avLst/>
          </a:prstGeom>
        </p:spPr>
        <p:txBody>
          <a:bodyPr anchor="t" rtlCol="false" tIns="0" lIns="0" bIns="0" rIns="0">
            <a:spAutoFit/>
          </a:bodyPr>
          <a:lstStyle/>
          <a:p>
            <a:pPr algn="ctr">
              <a:lnSpc>
                <a:spcPts val="4550"/>
              </a:lnSpc>
            </a:pPr>
            <a:r>
              <a:rPr lang="en-US" b="true" sz="3500">
                <a:solidFill>
                  <a:srgbClr val="003EA8"/>
                </a:solidFill>
                <a:latin typeface="Telegraf Heavy"/>
                <a:ea typeface="Telegraf Heavy"/>
                <a:cs typeface="Telegraf Heavy"/>
                <a:sym typeface="Telegraf Heavy"/>
              </a:rPr>
              <a:t>Desafíos principales: </a:t>
            </a:r>
          </a:p>
        </p:txBody>
      </p:sp>
      <p:sp>
        <p:nvSpPr>
          <p:cNvPr name="Freeform 11" id="11"/>
          <p:cNvSpPr/>
          <p:nvPr/>
        </p:nvSpPr>
        <p:spPr>
          <a:xfrm flipH="false" flipV="false" rot="0">
            <a:off x="-1782425" y="8123782"/>
            <a:ext cx="4585506" cy="1625770"/>
          </a:xfrm>
          <a:custGeom>
            <a:avLst/>
            <a:gdLst/>
            <a:ahLst/>
            <a:cxnLst/>
            <a:rect r="r" b="b" t="t" l="l"/>
            <a:pathLst>
              <a:path h="1625770" w="4585506">
                <a:moveTo>
                  <a:pt x="0" y="0"/>
                </a:moveTo>
                <a:lnTo>
                  <a:pt x="4585506" y="0"/>
                </a:lnTo>
                <a:lnTo>
                  <a:pt x="4585506" y="1625770"/>
                </a:lnTo>
                <a:lnTo>
                  <a:pt x="0" y="16257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8923192" y="-166829"/>
            <a:ext cx="441616" cy="633141"/>
          </a:xfrm>
          <a:custGeom>
            <a:avLst/>
            <a:gdLst/>
            <a:ahLst/>
            <a:cxnLst/>
            <a:rect r="r" b="b" t="t" l="l"/>
            <a:pathLst>
              <a:path h="633141" w="441616">
                <a:moveTo>
                  <a:pt x="0" y="0"/>
                </a:moveTo>
                <a:lnTo>
                  <a:pt x="441616" y="0"/>
                </a:lnTo>
                <a:lnTo>
                  <a:pt x="441616"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0">
            <a:off x="11129733" y="3218504"/>
            <a:ext cx="5105468" cy="603250"/>
          </a:xfrm>
          <a:prstGeom prst="rect">
            <a:avLst/>
          </a:prstGeom>
        </p:spPr>
        <p:txBody>
          <a:bodyPr anchor="t" rtlCol="false" tIns="0" lIns="0" bIns="0" rIns="0">
            <a:spAutoFit/>
          </a:bodyPr>
          <a:lstStyle/>
          <a:p>
            <a:pPr algn="ctr">
              <a:lnSpc>
                <a:spcPts val="4550"/>
              </a:lnSpc>
            </a:pPr>
            <a:r>
              <a:rPr lang="en-US" b="true" sz="3500">
                <a:solidFill>
                  <a:srgbClr val="003EA8"/>
                </a:solidFill>
                <a:latin typeface="Telegraf Heavy"/>
                <a:ea typeface="Telegraf Heavy"/>
                <a:cs typeface="Telegraf Heavy"/>
                <a:sym typeface="Telegraf Heavy"/>
              </a:rPr>
              <a:t>Cómo lo resolvimos:</a:t>
            </a:r>
          </a:p>
        </p:txBody>
      </p:sp>
      <p:grpSp>
        <p:nvGrpSpPr>
          <p:cNvPr name="Group 14" id="14"/>
          <p:cNvGrpSpPr/>
          <p:nvPr/>
        </p:nvGrpSpPr>
        <p:grpSpPr>
          <a:xfrm rot="0">
            <a:off x="2528182" y="4505019"/>
            <a:ext cx="6395010" cy="969435"/>
            <a:chOff x="0" y="0"/>
            <a:chExt cx="2199354" cy="333405"/>
          </a:xfrm>
        </p:grpSpPr>
        <p:sp>
          <p:nvSpPr>
            <p:cNvPr name="Freeform 15" id="15"/>
            <p:cNvSpPr/>
            <p:nvPr/>
          </p:nvSpPr>
          <p:spPr>
            <a:xfrm flipH="false" flipV="false" rot="0">
              <a:off x="0" y="0"/>
              <a:ext cx="2199354" cy="333405"/>
            </a:xfrm>
            <a:custGeom>
              <a:avLst/>
              <a:gdLst/>
              <a:ahLst/>
              <a:cxnLst/>
              <a:rect r="r" b="b" t="t" l="l"/>
              <a:pathLst>
                <a:path h="333405" w="2199354">
                  <a:moveTo>
                    <a:pt x="0" y="0"/>
                  </a:moveTo>
                  <a:lnTo>
                    <a:pt x="2199354" y="0"/>
                  </a:lnTo>
                  <a:lnTo>
                    <a:pt x="2199354" y="333405"/>
                  </a:lnTo>
                  <a:lnTo>
                    <a:pt x="0" y="333405"/>
                  </a:lnTo>
                  <a:close/>
                </a:path>
              </a:pathLst>
            </a:custGeom>
            <a:solidFill>
              <a:srgbClr val="FFFFFF"/>
            </a:solidFill>
          </p:spPr>
        </p:sp>
      </p:grpSp>
      <p:sp>
        <p:nvSpPr>
          <p:cNvPr name="TextBox 16" id="16"/>
          <p:cNvSpPr txBox="true"/>
          <p:nvPr/>
        </p:nvSpPr>
        <p:spPr>
          <a:xfrm rot="0">
            <a:off x="3079617" y="4594132"/>
            <a:ext cx="4882160" cy="743585"/>
          </a:xfrm>
          <a:prstGeom prst="rect">
            <a:avLst/>
          </a:prstGeom>
        </p:spPr>
        <p:txBody>
          <a:bodyPr anchor="t" rtlCol="false" tIns="0" lIns="0" bIns="0" rIns="0">
            <a:spAutoFit/>
          </a:bodyPr>
          <a:lstStyle/>
          <a:p>
            <a:pPr algn="ctr">
              <a:lnSpc>
                <a:spcPts val="2859"/>
              </a:lnSpc>
            </a:pPr>
            <a:r>
              <a:rPr lang="en-US" sz="2199">
                <a:solidFill>
                  <a:srgbClr val="000000"/>
                </a:solidFill>
                <a:latin typeface="Telegraf"/>
                <a:ea typeface="Telegraf"/>
                <a:cs typeface="Telegraf"/>
                <a:sym typeface="Telegraf"/>
              </a:rPr>
              <a:t>Valores faltantes en columnas Date, Activity y Fatal Y/N</a:t>
            </a:r>
          </a:p>
        </p:txBody>
      </p:sp>
      <p:grpSp>
        <p:nvGrpSpPr>
          <p:cNvPr name="Group 17" id="17"/>
          <p:cNvGrpSpPr/>
          <p:nvPr/>
        </p:nvGrpSpPr>
        <p:grpSpPr>
          <a:xfrm rot="0">
            <a:off x="2323192" y="5780947"/>
            <a:ext cx="6395010" cy="969435"/>
            <a:chOff x="0" y="0"/>
            <a:chExt cx="2199354" cy="333405"/>
          </a:xfrm>
        </p:grpSpPr>
        <p:sp>
          <p:nvSpPr>
            <p:cNvPr name="Freeform 18" id="18"/>
            <p:cNvSpPr/>
            <p:nvPr/>
          </p:nvSpPr>
          <p:spPr>
            <a:xfrm flipH="false" flipV="false" rot="0">
              <a:off x="0" y="0"/>
              <a:ext cx="2199354" cy="333405"/>
            </a:xfrm>
            <a:custGeom>
              <a:avLst/>
              <a:gdLst/>
              <a:ahLst/>
              <a:cxnLst/>
              <a:rect r="r" b="b" t="t" l="l"/>
              <a:pathLst>
                <a:path h="333405" w="2199354">
                  <a:moveTo>
                    <a:pt x="0" y="0"/>
                  </a:moveTo>
                  <a:lnTo>
                    <a:pt x="2199354" y="0"/>
                  </a:lnTo>
                  <a:lnTo>
                    <a:pt x="2199354" y="333405"/>
                  </a:lnTo>
                  <a:lnTo>
                    <a:pt x="0" y="333405"/>
                  </a:lnTo>
                  <a:close/>
                </a:path>
              </a:pathLst>
            </a:custGeom>
            <a:solidFill>
              <a:srgbClr val="FFFFFF"/>
            </a:solidFill>
          </p:spPr>
        </p:sp>
      </p:grpSp>
      <p:sp>
        <p:nvSpPr>
          <p:cNvPr name="TextBox 19" id="19"/>
          <p:cNvSpPr txBox="true"/>
          <p:nvPr/>
        </p:nvSpPr>
        <p:spPr>
          <a:xfrm rot="0">
            <a:off x="3079617" y="6055479"/>
            <a:ext cx="4882160" cy="381635"/>
          </a:xfrm>
          <a:prstGeom prst="rect">
            <a:avLst/>
          </a:prstGeom>
        </p:spPr>
        <p:txBody>
          <a:bodyPr anchor="t" rtlCol="false" tIns="0" lIns="0" bIns="0" rIns="0">
            <a:spAutoFit/>
          </a:bodyPr>
          <a:lstStyle/>
          <a:p>
            <a:pPr algn="ctr">
              <a:lnSpc>
                <a:spcPts val="2859"/>
              </a:lnSpc>
            </a:pPr>
            <a:r>
              <a:rPr lang="en-US" sz="2199">
                <a:solidFill>
                  <a:srgbClr val="000000"/>
                </a:solidFill>
                <a:latin typeface="Telegraf"/>
                <a:ea typeface="Telegraf"/>
                <a:cs typeface="Telegraf"/>
                <a:sym typeface="Telegraf"/>
              </a:rPr>
              <a:t>Variedad de formatos en fechas</a:t>
            </a:r>
          </a:p>
        </p:txBody>
      </p:sp>
      <p:grpSp>
        <p:nvGrpSpPr>
          <p:cNvPr name="Group 20" id="20"/>
          <p:cNvGrpSpPr/>
          <p:nvPr/>
        </p:nvGrpSpPr>
        <p:grpSpPr>
          <a:xfrm rot="0">
            <a:off x="2528182" y="7055182"/>
            <a:ext cx="6395010" cy="969435"/>
            <a:chOff x="0" y="0"/>
            <a:chExt cx="2199354" cy="333405"/>
          </a:xfrm>
        </p:grpSpPr>
        <p:sp>
          <p:nvSpPr>
            <p:cNvPr name="Freeform 21" id="21"/>
            <p:cNvSpPr/>
            <p:nvPr/>
          </p:nvSpPr>
          <p:spPr>
            <a:xfrm flipH="false" flipV="false" rot="0">
              <a:off x="0" y="0"/>
              <a:ext cx="2199354" cy="333405"/>
            </a:xfrm>
            <a:custGeom>
              <a:avLst/>
              <a:gdLst/>
              <a:ahLst/>
              <a:cxnLst/>
              <a:rect r="r" b="b" t="t" l="l"/>
              <a:pathLst>
                <a:path h="333405" w="2199354">
                  <a:moveTo>
                    <a:pt x="0" y="0"/>
                  </a:moveTo>
                  <a:lnTo>
                    <a:pt x="2199354" y="0"/>
                  </a:lnTo>
                  <a:lnTo>
                    <a:pt x="2199354" y="333405"/>
                  </a:lnTo>
                  <a:lnTo>
                    <a:pt x="0" y="333405"/>
                  </a:lnTo>
                  <a:close/>
                </a:path>
              </a:pathLst>
            </a:custGeom>
            <a:solidFill>
              <a:srgbClr val="FFFFFF"/>
            </a:solidFill>
          </p:spPr>
        </p:sp>
      </p:grpSp>
      <p:sp>
        <p:nvSpPr>
          <p:cNvPr name="TextBox 22" id="22"/>
          <p:cNvSpPr txBox="true"/>
          <p:nvPr/>
        </p:nvSpPr>
        <p:spPr>
          <a:xfrm rot="0">
            <a:off x="3079617" y="7158265"/>
            <a:ext cx="4882160" cy="743585"/>
          </a:xfrm>
          <a:prstGeom prst="rect">
            <a:avLst/>
          </a:prstGeom>
        </p:spPr>
        <p:txBody>
          <a:bodyPr anchor="t" rtlCol="false" tIns="0" lIns="0" bIns="0" rIns="0">
            <a:spAutoFit/>
          </a:bodyPr>
          <a:lstStyle/>
          <a:p>
            <a:pPr algn="ctr">
              <a:lnSpc>
                <a:spcPts val="2859"/>
              </a:lnSpc>
            </a:pPr>
            <a:r>
              <a:rPr lang="en-US" sz="2199">
                <a:solidFill>
                  <a:srgbClr val="000000"/>
                </a:solidFill>
                <a:latin typeface="Telegraf"/>
                <a:ea typeface="Telegraf"/>
                <a:cs typeface="Telegraf"/>
                <a:sym typeface="Telegraf"/>
              </a:rPr>
              <a:t>Variantes en nombres de países y actividades </a:t>
            </a:r>
          </a:p>
        </p:txBody>
      </p:sp>
      <p:grpSp>
        <p:nvGrpSpPr>
          <p:cNvPr name="Group 23" id="23"/>
          <p:cNvGrpSpPr/>
          <p:nvPr/>
        </p:nvGrpSpPr>
        <p:grpSpPr>
          <a:xfrm rot="0">
            <a:off x="2528182" y="8481817"/>
            <a:ext cx="6395010" cy="969435"/>
            <a:chOff x="0" y="0"/>
            <a:chExt cx="2199354" cy="333405"/>
          </a:xfrm>
        </p:grpSpPr>
        <p:sp>
          <p:nvSpPr>
            <p:cNvPr name="Freeform 24" id="24"/>
            <p:cNvSpPr/>
            <p:nvPr/>
          </p:nvSpPr>
          <p:spPr>
            <a:xfrm flipH="false" flipV="false" rot="0">
              <a:off x="0" y="0"/>
              <a:ext cx="2199354" cy="333405"/>
            </a:xfrm>
            <a:custGeom>
              <a:avLst/>
              <a:gdLst/>
              <a:ahLst/>
              <a:cxnLst/>
              <a:rect r="r" b="b" t="t" l="l"/>
              <a:pathLst>
                <a:path h="333405" w="2199354">
                  <a:moveTo>
                    <a:pt x="0" y="0"/>
                  </a:moveTo>
                  <a:lnTo>
                    <a:pt x="2199354" y="0"/>
                  </a:lnTo>
                  <a:lnTo>
                    <a:pt x="2199354" y="333405"/>
                  </a:lnTo>
                  <a:lnTo>
                    <a:pt x="0" y="333405"/>
                  </a:lnTo>
                  <a:close/>
                </a:path>
              </a:pathLst>
            </a:custGeom>
            <a:solidFill>
              <a:srgbClr val="FFFFFF"/>
            </a:solidFill>
          </p:spPr>
        </p:sp>
      </p:grpSp>
      <p:sp>
        <p:nvSpPr>
          <p:cNvPr name="TextBox 25" id="25"/>
          <p:cNvSpPr txBox="true"/>
          <p:nvPr/>
        </p:nvSpPr>
        <p:spPr>
          <a:xfrm rot="0">
            <a:off x="3284607" y="8541062"/>
            <a:ext cx="4882160" cy="743585"/>
          </a:xfrm>
          <a:prstGeom prst="rect">
            <a:avLst/>
          </a:prstGeom>
        </p:spPr>
        <p:txBody>
          <a:bodyPr anchor="t" rtlCol="false" tIns="0" lIns="0" bIns="0" rIns="0">
            <a:spAutoFit/>
          </a:bodyPr>
          <a:lstStyle/>
          <a:p>
            <a:pPr algn="ctr">
              <a:lnSpc>
                <a:spcPts val="2859"/>
              </a:lnSpc>
            </a:pPr>
            <a:r>
              <a:rPr lang="en-US" sz="2199">
                <a:solidFill>
                  <a:srgbClr val="000000"/>
                </a:solidFill>
                <a:latin typeface="Telegraf"/>
                <a:ea typeface="Telegraf"/>
                <a:cs typeface="Telegraf"/>
                <a:sym typeface="Telegraf"/>
              </a:rPr>
              <a:t>Duplicados y registros poco claros (Before 19-Jul-1913)</a:t>
            </a:r>
          </a:p>
        </p:txBody>
      </p:sp>
      <p:grpSp>
        <p:nvGrpSpPr>
          <p:cNvPr name="Group 26" id="26"/>
          <p:cNvGrpSpPr/>
          <p:nvPr/>
        </p:nvGrpSpPr>
        <p:grpSpPr>
          <a:xfrm rot="0">
            <a:off x="10562341" y="4504193"/>
            <a:ext cx="6395010" cy="969435"/>
            <a:chOff x="0" y="0"/>
            <a:chExt cx="2199354" cy="333405"/>
          </a:xfrm>
        </p:grpSpPr>
        <p:sp>
          <p:nvSpPr>
            <p:cNvPr name="Freeform 27" id="27"/>
            <p:cNvSpPr/>
            <p:nvPr/>
          </p:nvSpPr>
          <p:spPr>
            <a:xfrm flipH="false" flipV="false" rot="0">
              <a:off x="0" y="0"/>
              <a:ext cx="2199354" cy="333405"/>
            </a:xfrm>
            <a:custGeom>
              <a:avLst/>
              <a:gdLst/>
              <a:ahLst/>
              <a:cxnLst/>
              <a:rect r="r" b="b" t="t" l="l"/>
              <a:pathLst>
                <a:path h="333405" w="2199354">
                  <a:moveTo>
                    <a:pt x="0" y="0"/>
                  </a:moveTo>
                  <a:lnTo>
                    <a:pt x="2199354" y="0"/>
                  </a:lnTo>
                  <a:lnTo>
                    <a:pt x="2199354" y="333405"/>
                  </a:lnTo>
                  <a:lnTo>
                    <a:pt x="0" y="333405"/>
                  </a:lnTo>
                  <a:close/>
                </a:path>
              </a:pathLst>
            </a:custGeom>
            <a:solidFill>
              <a:srgbClr val="FFFFFF"/>
            </a:solidFill>
          </p:spPr>
        </p:sp>
      </p:grpSp>
      <p:grpSp>
        <p:nvGrpSpPr>
          <p:cNvPr name="Group 28" id="28"/>
          <p:cNvGrpSpPr/>
          <p:nvPr/>
        </p:nvGrpSpPr>
        <p:grpSpPr>
          <a:xfrm rot="0">
            <a:off x="10562341" y="7069152"/>
            <a:ext cx="6395010" cy="969435"/>
            <a:chOff x="0" y="0"/>
            <a:chExt cx="2199354" cy="333405"/>
          </a:xfrm>
        </p:grpSpPr>
        <p:sp>
          <p:nvSpPr>
            <p:cNvPr name="Freeform 29" id="29"/>
            <p:cNvSpPr/>
            <p:nvPr/>
          </p:nvSpPr>
          <p:spPr>
            <a:xfrm flipH="false" flipV="false" rot="0">
              <a:off x="0" y="0"/>
              <a:ext cx="2199354" cy="333405"/>
            </a:xfrm>
            <a:custGeom>
              <a:avLst/>
              <a:gdLst/>
              <a:ahLst/>
              <a:cxnLst/>
              <a:rect r="r" b="b" t="t" l="l"/>
              <a:pathLst>
                <a:path h="333405" w="2199354">
                  <a:moveTo>
                    <a:pt x="0" y="0"/>
                  </a:moveTo>
                  <a:lnTo>
                    <a:pt x="2199354" y="0"/>
                  </a:lnTo>
                  <a:lnTo>
                    <a:pt x="2199354" y="333405"/>
                  </a:lnTo>
                  <a:lnTo>
                    <a:pt x="0" y="333405"/>
                  </a:lnTo>
                  <a:close/>
                </a:path>
              </a:pathLst>
            </a:custGeom>
            <a:solidFill>
              <a:srgbClr val="FFFFFF"/>
            </a:solidFill>
          </p:spPr>
        </p:sp>
      </p:grpSp>
      <p:sp>
        <p:nvSpPr>
          <p:cNvPr name="TextBox 30" id="30"/>
          <p:cNvSpPr txBox="true"/>
          <p:nvPr/>
        </p:nvSpPr>
        <p:spPr>
          <a:xfrm rot="0">
            <a:off x="10607963" y="7197645"/>
            <a:ext cx="5753986" cy="743585"/>
          </a:xfrm>
          <a:prstGeom prst="rect">
            <a:avLst/>
          </a:prstGeom>
        </p:spPr>
        <p:txBody>
          <a:bodyPr anchor="t" rtlCol="false" tIns="0" lIns="0" bIns="0" rIns="0">
            <a:spAutoFit/>
          </a:bodyPr>
          <a:lstStyle/>
          <a:p>
            <a:pPr algn="ctr">
              <a:lnSpc>
                <a:spcPts val="2859"/>
              </a:lnSpc>
            </a:pPr>
            <a:r>
              <a:rPr lang="en-US" sz="2199">
                <a:solidFill>
                  <a:srgbClr val="000000"/>
                </a:solidFill>
                <a:latin typeface="Telegraf"/>
                <a:ea typeface="Telegraf"/>
                <a:cs typeface="Telegraf"/>
                <a:sym typeface="Telegraf"/>
              </a:rPr>
              <a:t>Normalizamos nombres de países y actividades para agrupar correctamente.</a:t>
            </a:r>
          </a:p>
        </p:txBody>
      </p:sp>
      <p:grpSp>
        <p:nvGrpSpPr>
          <p:cNvPr name="Group 31" id="31"/>
          <p:cNvGrpSpPr/>
          <p:nvPr/>
        </p:nvGrpSpPr>
        <p:grpSpPr>
          <a:xfrm rot="0">
            <a:off x="10562341" y="5826053"/>
            <a:ext cx="6395010" cy="969435"/>
            <a:chOff x="0" y="0"/>
            <a:chExt cx="2199354" cy="333405"/>
          </a:xfrm>
        </p:grpSpPr>
        <p:sp>
          <p:nvSpPr>
            <p:cNvPr name="Freeform 32" id="32"/>
            <p:cNvSpPr/>
            <p:nvPr/>
          </p:nvSpPr>
          <p:spPr>
            <a:xfrm flipH="false" flipV="false" rot="0">
              <a:off x="0" y="0"/>
              <a:ext cx="2199354" cy="333405"/>
            </a:xfrm>
            <a:custGeom>
              <a:avLst/>
              <a:gdLst/>
              <a:ahLst/>
              <a:cxnLst/>
              <a:rect r="r" b="b" t="t" l="l"/>
              <a:pathLst>
                <a:path h="333405" w="2199354">
                  <a:moveTo>
                    <a:pt x="0" y="0"/>
                  </a:moveTo>
                  <a:lnTo>
                    <a:pt x="2199354" y="0"/>
                  </a:lnTo>
                  <a:lnTo>
                    <a:pt x="2199354" y="333405"/>
                  </a:lnTo>
                  <a:lnTo>
                    <a:pt x="0" y="333405"/>
                  </a:lnTo>
                  <a:close/>
                </a:path>
              </a:pathLst>
            </a:custGeom>
            <a:solidFill>
              <a:srgbClr val="FFFFFF"/>
            </a:solidFill>
          </p:spPr>
        </p:sp>
      </p:grpSp>
      <p:sp>
        <p:nvSpPr>
          <p:cNvPr name="TextBox 33" id="33"/>
          <p:cNvSpPr txBox="true"/>
          <p:nvPr/>
        </p:nvSpPr>
        <p:spPr>
          <a:xfrm rot="0">
            <a:off x="11135703" y="4594132"/>
            <a:ext cx="4882160" cy="743585"/>
          </a:xfrm>
          <a:prstGeom prst="rect">
            <a:avLst/>
          </a:prstGeom>
        </p:spPr>
        <p:txBody>
          <a:bodyPr anchor="t" rtlCol="false" tIns="0" lIns="0" bIns="0" rIns="0">
            <a:spAutoFit/>
          </a:bodyPr>
          <a:lstStyle/>
          <a:p>
            <a:pPr algn="ctr">
              <a:lnSpc>
                <a:spcPts val="2859"/>
              </a:lnSpc>
            </a:pPr>
            <a:r>
              <a:rPr lang="en-US" sz="2199">
                <a:solidFill>
                  <a:srgbClr val="000000"/>
                </a:solidFill>
                <a:latin typeface="Telegraf"/>
                <a:ea typeface="Telegraf"/>
                <a:cs typeface="Telegraf"/>
                <a:sym typeface="Telegraf"/>
              </a:rPr>
              <a:t>Convertimos valores a un formato uniforme</a:t>
            </a:r>
          </a:p>
        </p:txBody>
      </p:sp>
      <p:grpSp>
        <p:nvGrpSpPr>
          <p:cNvPr name="Group 34" id="34"/>
          <p:cNvGrpSpPr/>
          <p:nvPr/>
        </p:nvGrpSpPr>
        <p:grpSpPr>
          <a:xfrm rot="0">
            <a:off x="10562341" y="8391012"/>
            <a:ext cx="6395010" cy="969435"/>
            <a:chOff x="0" y="0"/>
            <a:chExt cx="2199354" cy="333405"/>
          </a:xfrm>
        </p:grpSpPr>
        <p:sp>
          <p:nvSpPr>
            <p:cNvPr name="Freeform 35" id="35"/>
            <p:cNvSpPr/>
            <p:nvPr/>
          </p:nvSpPr>
          <p:spPr>
            <a:xfrm flipH="false" flipV="false" rot="0">
              <a:off x="0" y="0"/>
              <a:ext cx="2199354" cy="333405"/>
            </a:xfrm>
            <a:custGeom>
              <a:avLst/>
              <a:gdLst/>
              <a:ahLst/>
              <a:cxnLst/>
              <a:rect r="r" b="b" t="t" l="l"/>
              <a:pathLst>
                <a:path h="333405" w="2199354">
                  <a:moveTo>
                    <a:pt x="0" y="0"/>
                  </a:moveTo>
                  <a:lnTo>
                    <a:pt x="2199354" y="0"/>
                  </a:lnTo>
                  <a:lnTo>
                    <a:pt x="2199354" y="333405"/>
                  </a:lnTo>
                  <a:lnTo>
                    <a:pt x="0" y="333405"/>
                  </a:lnTo>
                  <a:close/>
                </a:path>
              </a:pathLst>
            </a:custGeom>
            <a:solidFill>
              <a:srgbClr val="FFFFFF"/>
            </a:solidFill>
          </p:spPr>
        </p:sp>
      </p:grpSp>
      <p:sp>
        <p:nvSpPr>
          <p:cNvPr name="TextBox 36" id="36"/>
          <p:cNvSpPr txBox="true"/>
          <p:nvPr/>
        </p:nvSpPr>
        <p:spPr>
          <a:xfrm rot="0">
            <a:off x="10726881" y="8570930"/>
            <a:ext cx="5974703" cy="743585"/>
          </a:xfrm>
          <a:prstGeom prst="rect">
            <a:avLst/>
          </a:prstGeom>
        </p:spPr>
        <p:txBody>
          <a:bodyPr anchor="t" rtlCol="false" tIns="0" lIns="0" bIns="0" rIns="0">
            <a:spAutoFit/>
          </a:bodyPr>
          <a:lstStyle/>
          <a:p>
            <a:pPr algn="ctr">
              <a:lnSpc>
                <a:spcPts val="2859"/>
              </a:lnSpc>
            </a:pPr>
            <a:r>
              <a:rPr lang="en-US" sz="2199">
                <a:solidFill>
                  <a:srgbClr val="000000"/>
                </a:solidFill>
                <a:latin typeface="Telegraf"/>
                <a:ea typeface="Telegraf"/>
                <a:cs typeface="Telegraf"/>
                <a:sym typeface="Telegraf"/>
              </a:rPr>
              <a:t>Filtramos y transformamos la columna Date para extraer meses y agrupar por trimestres</a:t>
            </a:r>
          </a:p>
        </p:txBody>
      </p:sp>
      <p:sp>
        <p:nvSpPr>
          <p:cNvPr name="Freeform 37" id="37"/>
          <p:cNvSpPr/>
          <p:nvPr/>
        </p:nvSpPr>
        <p:spPr>
          <a:xfrm flipH="true" flipV="false" rot="0">
            <a:off x="15719400" y="8547562"/>
            <a:ext cx="4585506" cy="1625770"/>
          </a:xfrm>
          <a:custGeom>
            <a:avLst/>
            <a:gdLst/>
            <a:ahLst/>
            <a:cxnLst/>
            <a:rect r="r" b="b" t="t" l="l"/>
            <a:pathLst>
              <a:path h="1625770" w="4585506">
                <a:moveTo>
                  <a:pt x="4585506" y="0"/>
                </a:moveTo>
                <a:lnTo>
                  <a:pt x="0" y="0"/>
                </a:lnTo>
                <a:lnTo>
                  <a:pt x="0" y="1625771"/>
                </a:lnTo>
                <a:lnTo>
                  <a:pt x="4585506" y="1625771"/>
                </a:lnTo>
                <a:lnTo>
                  <a:pt x="4585506"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8" id="38"/>
          <p:cNvSpPr txBox="true"/>
          <p:nvPr/>
        </p:nvSpPr>
        <p:spPr>
          <a:xfrm rot="0">
            <a:off x="10699790" y="5915165"/>
            <a:ext cx="5753986" cy="743585"/>
          </a:xfrm>
          <a:prstGeom prst="rect">
            <a:avLst/>
          </a:prstGeom>
        </p:spPr>
        <p:txBody>
          <a:bodyPr anchor="t" rtlCol="false" tIns="0" lIns="0" bIns="0" rIns="0">
            <a:spAutoFit/>
          </a:bodyPr>
          <a:lstStyle/>
          <a:p>
            <a:pPr algn="ctr">
              <a:lnSpc>
                <a:spcPts val="2859"/>
              </a:lnSpc>
            </a:pPr>
            <a:r>
              <a:rPr lang="en-US" sz="2199">
                <a:solidFill>
                  <a:srgbClr val="000000"/>
                </a:solidFill>
                <a:latin typeface="Telegraf"/>
                <a:ea typeface="Telegraf"/>
                <a:cs typeface="Telegraf"/>
                <a:sym typeface="Telegraf"/>
              </a:rPr>
              <a:t>Eliminamos o ignoramos registros ambiguos y con información incompleta </a:t>
            </a:r>
          </a:p>
        </p:txBody>
      </p:sp>
      <p:sp>
        <p:nvSpPr>
          <p:cNvPr name="Freeform 39" id="39"/>
          <p:cNvSpPr/>
          <p:nvPr/>
        </p:nvSpPr>
        <p:spPr>
          <a:xfrm flipH="false" flipV="false" rot="0">
            <a:off x="8336259" y="4884409"/>
            <a:ext cx="441616" cy="633141"/>
          </a:xfrm>
          <a:custGeom>
            <a:avLst/>
            <a:gdLst/>
            <a:ahLst/>
            <a:cxnLst/>
            <a:rect r="r" b="b" t="t" l="l"/>
            <a:pathLst>
              <a:path h="633141" w="441616">
                <a:moveTo>
                  <a:pt x="0" y="0"/>
                </a:moveTo>
                <a:lnTo>
                  <a:pt x="441616" y="0"/>
                </a:lnTo>
                <a:lnTo>
                  <a:pt x="441616"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0" id="40"/>
          <p:cNvSpPr/>
          <p:nvPr/>
        </p:nvSpPr>
        <p:spPr>
          <a:xfrm flipH="false" flipV="false" rot="0">
            <a:off x="10258175" y="8968077"/>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aphicFrame>
        <p:nvGraphicFramePr>
          <p:cNvPr name="Table 3" id="3"/>
          <p:cNvGraphicFramePr>
            <a:graphicFrameLocks noGrp="true"/>
          </p:cNvGraphicFramePr>
          <p:nvPr/>
        </p:nvGraphicFramePr>
        <p:xfrm>
          <a:off x="1028700" y="2514959"/>
          <a:ext cx="16452850" cy="7176153"/>
        </p:xfrm>
        <a:graphic>
          <a:graphicData uri="http://schemas.openxmlformats.org/drawingml/2006/table">
            <a:tbl>
              <a:tblPr/>
              <a:tblGrid>
                <a:gridCol w="8226425"/>
                <a:gridCol w="8226425"/>
              </a:tblGrid>
              <a:tr h="1458243">
                <a:tc>
                  <a:txBody>
                    <a:bodyPr anchor="t" rtlCol="false"/>
                    <a:lstStyle/>
                    <a:p>
                      <a:pPr algn="ctr">
                        <a:lnSpc>
                          <a:spcPts val="4200"/>
                        </a:lnSpc>
                        <a:defRPr/>
                      </a:pPr>
                      <a:r>
                        <a:rPr lang="en-US" sz="3000" b="true">
                          <a:solidFill>
                            <a:srgbClr val="003EA8"/>
                          </a:solidFill>
                          <a:latin typeface="Telegraf Bold"/>
                          <a:ea typeface="Telegraf Bold"/>
                          <a:cs typeface="Telegraf Bold"/>
                          <a:sym typeface="Telegraf Bold"/>
                        </a:rPr>
                        <a:t>Patrones y hallazgos interesantes: </a:t>
                      </a:r>
                      <a:endParaRPr lang="en-US" sz="1100"/>
                    </a:p>
                  </a:txBody>
                  <a:tcPr marL="190500" marR="190500" marT="190500" marB="190500" anchor="ctr">
                    <a:lnL cmpd="sng" algn="ctr" cap="flat" w="1905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19050">
                      <a:solidFill>
                        <a:srgbClr val="CCCCCC"/>
                      </a:solidFill>
                      <a:prstDash val="solid"/>
                      <a:round/>
                      <a:headEnd type="none" w="med" len="med"/>
                      <a:tailEnd type="none" w="med" len="med"/>
                    </a:lnB>
                    <a:solidFill>
                      <a:srgbClr val="FFFFFF"/>
                    </a:solidFill>
                  </a:tcPr>
                </a:tc>
                <a:tc>
                  <a:txBody>
                    <a:bodyPr anchor="t" rtlCol="false"/>
                    <a:lstStyle/>
                    <a:p>
                      <a:pPr algn="ctr">
                        <a:lnSpc>
                          <a:spcPts val="4200"/>
                        </a:lnSpc>
                        <a:defRPr/>
                      </a:pPr>
                      <a:r>
                        <a:rPr lang="en-US" sz="3000" b="true">
                          <a:solidFill>
                            <a:srgbClr val="003EA8"/>
                          </a:solidFill>
                          <a:latin typeface="Telegraf Bold"/>
                          <a:ea typeface="Telegraf Bold"/>
                          <a:cs typeface="Telegraf Bold"/>
                          <a:sym typeface="Telegraf Bold"/>
                        </a:rPr>
                        <a:t>Métodos Utilizados </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1905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19050">
                      <a:solidFill>
                        <a:srgbClr val="CCCCCC"/>
                      </a:solidFill>
                      <a:prstDash val="solid"/>
                      <a:round/>
                      <a:headEnd type="none" w="med" len="med"/>
                      <a:tailEnd type="none" w="med" len="med"/>
                    </a:lnB>
                    <a:solidFill>
                      <a:srgbClr val="FFFFFF"/>
                    </a:solidFill>
                  </a:tcPr>
                </a:tc>
              </a:tr>
              <a:tr h="5717910">
                <a:tc>
                  <a:txBody>
                    <a:bodyPr anchor="t" rtlCol="false"/>
                    <a:lstStyle/>
                    <a:p>
                      <a:pPr algn="l" marL="496564" indent="-248282" lvl="1">
                        <a:lnSpc>
                          <a:spcPts val="3219"/>
                        </a:lnSpc>
                        <a:buFont typeface="Arial"/>
                        <a:buChar char="•"/>
                        <a:defRPr/>
                      </a:pPr>
                      <a:r>
                        <a:rPr lang="en-US" sz="2299">
                          <a:solidFill>
                            <a:srgbClr val="000000"/>
                          </a:solidFill>
                          <a:latin typeface="Telegraf"/>
                          <a:ea typeface="Telegraf"/>
                          <a:cs typeface="Telegraf"/>
                          <a:sym typeface="Telegraf"/>
                        </a:rPr>
                        <a:t>La mayoría de los ataques son a hombres.</a:t>
                      </a:r>
                      <a:endParaRPr lang="en-US" sz="1100"/>
                    </a:p>
                    <a:p>
                      <a:pPr algn="l" marL="496564" indent="-248282" lvl="1">
                        <a:lnSpc>
                          <a:spcPts val="3219"/>
                        </a:lnSpc>
                        <a:buFont typeface="Arial"/>
                        <a:buChar char="•"/>
                      </a:pPr>
                      <a:r>
                        <a:rPr lang="en-US" sz="2299">
                          <a:solidFill>
                            <a:srgbClr val="000000"/>
                          </a:solidFill>
                          <a:latin typeface="Telegraf"/>
                          <a:ea typeface="Telegraf"/>
                          <a:cs typeface="Telegraf"/>
                          <a:sym typeface="Telegraf"/>
                        </a:rPr>
                        <a:t>Los ataques fatales se dan más en actividades acuáticas populares: surf, natación y pesca.</a:t>
                      </a:r>
                    </a:p>
                    <a:p>
                      <a:pPr algn="l" marL="496564" indent="-248282" lvl="1">
                        <a:lnSpc>
                          <a:spcPts val="3219"/>
                        </a:lnSpc>
                        <a:buFont typeface="Arial"/>
                        <a:buChar char="•"/>
                      </a:pPr>
                      <a:r>
                        <a:rPr lang="en-US" sz="2299">
                          <a:solidFill>
                            <a:srgbClr val="000000"/>
                          </a:solidFill>
                          <a:latin typeface="Telegraf"/>
                          <a:ea typeface="Telegraf"/>
                          <a:cs typeface="Telegraf"/>
                          <a:sym typeface="Telegraf"/>
                        </a:rPr>
                        <a:t>La mayor concentración de ataques ocurren en Estados Unidos, Australia y Sudáfrica.</a:t>
                      </a:r>
                    </a:p>
                    <a:p>
                      <a:pPr algn="l" marL="496564" indent="-248282" lvl="1">
                        <a:lnSpc>
                          <a:spcPts val="3219"/>
                        </a:lnSpc>
                        <a:buFont typeface="Arial"/>
                        <a:buChar char="•"/>
                      </a:pPr>
                      <a:r>
                        <a:rPr lang="en-US" sz="2299">
                          <a:solidFill>
                            <a:srgbClr val="000000"/>
                          </a:solidFill>
                          <a:latin typeface="Telegraf"/>
                          <a:ea typeface="Telegraf"/>
                          <a:cs typeface="Telegraf"/>
                          <a:sym typeface="Telegraf"/>
                        </a:rPr>
                        <a:t>Los ataques son más frecuentes en verano en el hemisferio norte.</a:t>
                      </a:r>
                    </a:p>
                    <a:p>
                      <a:pPr algn="l" marL="496564" indent="-248282" lvl="1">
                        <a:lnSpc>
                          <a:spcPts val="3219"/>
                        </a:lnSpc>
                        <a:buFont typeface="Arial"/>
                        <a:buChar char="•"/>
                      </a:pPr>
                      <a:r>
                        <a:rPr lang="en-US" sz="2299">
                          <a:solidFill>
                            <a:srgbClr val="000000"/>
                          </a:solidFill>
                          <a:latin typeface="Telegraf"/>
                          <a:ea typeface="Telegraf"/>
                          <a:cs typeface="Telegraf"/>
                          <a:sym typeface="Telegraf"/>
                        </a:rPr>
                        <a:t>La mayoría de las muertes ocurren en ataques no provocados.</a:t>
                      </a:r>
                    </a:p>
                    <a:p>
                      <a:pPr algn="l">
                        <a:lnSpc>
                          <a:spcPts val="3219"/>
                        </a:lnSpc>
                      </a:pPr>
                    </a:p>
                  </a:txBody>
                  <a:tcPr marL="190500" marR="190500" marT="190500" marB="190500" anchor="ctr">
                    <a:lnL cmpd="sng" algn="ctr" cap="flat" w="1905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1905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l" marL="496569" indent="-248284" lvl="1">
                        <a:lnSpc>
                          <a:spcPts val="3219"/>
                        </a:lnSpc>
                        <a:buFont typeface="Arial"/>
                        <a:buChar char="•"/>
                        <a:defRPr/>
                      </a:pPr>
                      <a:r>
                        <a:rPr lang="en-US" sz="2299">
                          <a:solidFill>
                            <a:srgbClr val="000000"/>
                          </a:solidFill>
                          <a:latin typeface="Telegraf"/>
                          <a:ea typeface="Telegraf"/>
                          <a:cs typeface="Telegraf"/>
                          <a:sym typeface="Telegraf"/>
                        </a:rPr>
                        <a:t>Agrupaciones por Activity, Fatal Y/N y Type → más peligrosas y si fueron provocadas o no.</a:t>
                      </a:r>
                      <a:endParaRPr lang="en-US" sz="1100"/>
                    </a:p>
                    <a:p>
                      <a:pPr algn="l" marL="496569" indent="-248284" lvl="1">
                        <a:lnSpc>
                          <a:spcPts val="3219"/>
                        </a:lnSpc>
                        <a:buFont typeface="Arial"/>
                        <a:buChar char="•"/>
                      </a:pPr>
                      <a:r>
                        <a:rPr lang="en-US" sz="2299">
                          <a:solidFill>
                            <a:srgbClr val="000000"/>
                          </a:solidFill>
                          <a:latin typeface="Telegraf"/>
                          <a:ea typeface="Telegraf"/>
                          <a:cs typeface="Telegraf"/>
                          <a:sym typeface="Telegraf"/>
                        </a:rPr>
                        <a:t>Conteo por Country para identificar los países con mayor número de ataques.</a:t>
                      </a:r>
                    </a:p>
                    <a:p>
                      <a:pPr algn="l" marL="496569" indent="-248284" lvl="1">
                        <a:lnSpc>
                          <a:spcPts val="3219"/>
                        </a:lnSpc>
                        <a:buFont typeface="Arial"/>
                        <a:buChar char="•"/>
                      </a:pPr>
                      <a:r>
                        <a:rPr lang="en-US" sz="2299">
                          <a:solidFill>
                            <a:srgbClr val="000000"/>
                          </a:solidFill>
                          <a:latin typeface="Telegraf"/>
                          <a:ea typeface="Telegraf"/>
                          <a:cs typeface="Telegraf"/>
                          <a:sym typeface="Telegraf"/>
                        </a:rPr>
                        <a:t>Agrupación por mes y trimestre para analizar la estacionalidad de los ataques.</a:t>
                      </a:r>
                    </a:p>
                    <a:p>
                      <a:pPr algn="l" marL="496569" indent="-248284" lvl="1">
                        <a:lnSpc>
                          <a:spcPts val="3219"/>
                        </a:lnSpc>
                        <a:buFont typeface="Arial"/>
                        <a:buChar char="•"/>
                      </a:pPr>
                      <a:r>
                        <a:rPr lang="en-US" sz="2299">
                          <a:solidFill>
                            <a:srgbClr val="000000"/>
                          </a:solidFill>
                          <a:latin typeface="Telegraf"/>
                          <a:ea typeface="Telegraf"/>
                          <a:cs typeface="Telegraf"/>
                          <a:sym typeface="Telegraf"/>
                        </a:rPr>
                        <a:t>Filtrado en Year para quedarnos con los años después del 1000.</a:t>
                      </a:r>
                    </a:p>
                  </a:txBody>
                  <a:tcPr marL="190500" marR="190500" marT="190500" marB="190500" anchor="ctr">
                    <a:lnL cmpd="sng" algn="ctr" cap="flat" w="0">
                      <a:solidFill>
                        <a:srgbClr val="CCCCCC"/>
                      </a:solidFill>
                      <a:prstDash val="solid"/>
                      <a:round/>
                      <a:headEnd type="none" w="med" len="med"/>
                      <a:tailEnd type="none" w="med" len="med"/>
                    </a:lnL>
                    <a:lnR cmpd="sng" algn="ctr" cap="flat" w="19050">
                      <a:solidFill>
                        <a:srgbClr val="CCCCCC"/>
                      </a:solidFill>
                      <a:prstDash val="solid"/>
                      <a:round/>
                      <a:headEnd type="none" w="med" len="med"/>
                      <a:tailEnd type="none" w="med" len="med"/>
                    </a:lnR>
                    <a:lnT cmpd="sng" algn="ctr" cap="flat" w="1905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r>
            </a:tbl>
          </a:graphicData>
        </a:graphic>
      </p:graphicFrame>
      <p:sp>
        <p:nvSpPr>
          <p:cNvPr name="Freeform 4" id="4"/>
          <p:cNvSpPr/>
          <p:nvPr/>
        </p:nvSpPr>
        <p:spPr>
          <a:xfrm flipH="false" flipV="false" rot="-278358">
            <a:off x="15881287" y="7952572"/>
            <a:ext cx="2756025" cy="866895"/>
          </a:xfrm>
          <a:custGeom>
            <a:avLst/>
            <a:gdLst/>
            <a:ahLst/>
            <a:cxnLst/>
            <a:rect r="r" b="b" t="t" l="l"/>
            <a:pathLst>
              <a:path h="866895" w="2756025">
                <a:moveTo>
                  <a:pt x="0" y="0"/>
                </a:moveTo>
                <a:lnTo>
                  <a:pt x="2756026" y="0"/>
                </a:lnTo>
                <a:lnTo>
                  <a:pt x="2756026" y="866895"/>
                </a:lnTo>
                <a:lnTo>
                  <a:pt x="0" y="86689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2462188" y="8728374"/>
            <a:ext cx="441616" cy="633141"/>
          </a:xfrm>
          <a:custGeom>
            <a:avLst/>
            <a:gdLst/>
            <a:ahLst/>
            <a:cxnLst/>
            <a:rect r="r" b="b" t="t" l="l"/>
            <a:pathLst>
              <a:path h="633141" w="441616">
                <a:moveTo>
                  <a:pt x="0" y="0"/>
                </a:moveTo>
                <a:lnTo>
                  <a:pt x="441616" y="0"/>
                </a:lnTo>
                <a:lnTo>
                  <a:pt x="441616"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5384196" y="-309867"/>
            <a:ext cx="441616" cy="633141"/>
          </a:xfrm>
          <a:custGeom>
            <a:avLst/>
            <a:gdLst/>
            <a:ahLst/>
            <a:cxnLst/>
            <a:rect r="r" b="b" t="t" l="l"/>
            <a:pathLst>
              <a:path h="633141" w="441616">
                <a:moveTo>
                  <a:pt x="0" y="0"/>
                </a:moveTo>
                <a:lnTo>
                  <a:pt x="441616" y="0"/>
                </a:lnTo>
                <a:lnTo>
                  <a:pt x="441616"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7" id="7"/>
          <p:cNvGrpSpPr/>
          <p:nvPr/>
        </p:nvGrpSpPr>
        <p:grpSpPr>
          <a:xfrm rot="0">
            <a:off x="1478051" y="323274"/>
            <a:ext cx="16111266" cy="1867835"/>
            <a:chOff x="0" y="0"/>
            <a:chExt cx="5999157" cy="695503"/>
          </a:xfrm>
        </p:grpSpPr>
        <p:sp>
          <p:nvSpPr>
            <p:cNvPr name="Freeform 8" id="8"/>
            <p:cNvSpPr/>
            <p:nvPr/>
          </p:nvSpPr>
          <p:spPr>
            <a:xfrm flipH="false" flipV="false" rot="0">
              <a:off x="0" y="0"/>
              <a:ext cx="5999157" cy="695503"/>
            </a:xfrm>
            <a:custGeom>
              <a:avLst/>
              <a:gdLst/>
              <a:ahLst/>
              <a:cxnLst/>
              <a:rect r="r" b="b" t="t" l="l"/>
              <a:pathLst>
                <a:path h="695503" w="5999157">
                  <a:moveTo>
                    <a:pt x="0" y="0"/>
                  </a:moveTo>
                  <a:lnTo>
                    <a:pt x="5999157" y="0"/>
                  </a:lnTo>
                  <a:lnTo>
                    <a:pt x="5999157" y="695503"/>
                  </a:lnTo>
                  <a:lnTo>
                    <a:pt x="0" y="695503"/>
                  </a:lnTo>
                  <a:close/>
                </a:path>
              </a:pathLst>
            </a:custGeom>
            <a:solidFill>
              <a:srgbClr val="FFFFFF"/>
            </a:solidFill>
          </p:spPr>
        </p:sp>
      </p:grpSp>
      <p:sp>
        <p:nvSpPr>
          <p:cNvPr name="TextBox 9" id="9"/>
          <p:cNvSpPr txBox="true"/>
          <p:nvPr/>
        </p:nvSpPr>
        <p:spPr>
          <a:xfrm rot="0">
            <a:off x="1564107" y="561866"/>
            <a:ext cx="15388832" cy="1304925"/>
          </a:xfrm>
          <a:prstGeom prst="rect">
            <a:avLst/>
          </a:prstGeom>
        </p:spPr>
        <p:txBody>
          <a:bodyPr anchor="t" rtlCol="false" tIns="0" lIns="0" bIns="0" rIns="0">
            <a:spAutoFit/>
          </a:bodyPr>
          <a:lstStyle/>
          <a:p>
            <a:pPr algn="ctr">
              <a:lnSpc>
                <a:spcPts val="9621"/>
              </a:lnSpc>
            </a:pPr>
            <a:r>
              <a:rPr lang="en-US" b="true" sz="8017">
                <a:solidFill>
                  <a:srgbClr val="003EA8"/>
                </a:solidFill>
                <a:latin typeface="Telegraf Bold"/>
                <a:ea typeface="Telegraf Bold"/>
                <a:cs typeface="Telegraf Bold"/>
                <a:sym typeface="Telegraf Bold"/>
              </a:rPr>
              <a:t>Análisis exploratorio de datos </a:t>
            </a:r>
          </a:p>
        </p:txBody>
      </p:sp>
      <p:sp>
        <p:nvSpPr>
          <p:cNvPr name="Freeform 10" id="10"/>
          <p:cNvSpPr/>
          <p:nvPr/>
        </p:nvSpPr>
        <p:spPr>
          <a:xfrm flipH="false" flipV="false" rot="-278358">
            <a:off x="-877924" y="433311"/>
            <a:ext cx="2756025" cy="866895"/>
          </a:xfrm>
          <a:custGeom>
            <a:avLst/>
            <a:gdLst/>
            <a:ahLst/>
            <a:cxnLst/>
            <a:rect r="r" b="b" t="t" l="l"/>
            <a:pathLst>
              <a:path h="866895" w="2756025">
                <a:moveTo>
                  <a:pt x="0" y="0"/>
                </a:moveTo>
                <a:lnTo>
                  <a:pt x="2756025" y="0"/>
                </a:lnTo>
                <a:lnTo>
                  <a:pt x="2756025" y="866895"/>
                </a:lnTo>
                <a:lnTo>
                  <a:pt x="0" y="86689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9009410" cy="1907038"/>
            <a:chOff x="0" y="0"/>
            <a:chExt cx="3286657" cy="695693"/>
          </a:xfrm>
        </p:grpSpPr>
        <p:sp>
          <p:nvSpPr>
            <p:cNvPr name="Freeform 4" id="4"/>
            <p:cNvSpPr/>
            <p:nvPr/>
          </p:nvSpPr>
          <p:spPr>
            <a:xfrm flipH="false" flipV="false" rot="0">
              <a:off x="0" y="0"/>
              <a:ext cx="3286657" cy="695693"/>
            </a:xfrm>
            <a:custGeom>
              <a:avLst/>
              <a:gdLst/>
              <a:ahLst/>
              <a:cxnLst/>
              <a:rect r="r" b="b" t="t" l="l"/>
              <a:pathLst>
                <a:path h="695693" w="3286657">
                  <a:moveTo>
                    <a:pt x="0" y="0"/>
                  </a:moveTo>
                  <a:lnTo>
                    <a:pt x="3286657" y="0"/>
                  </a:lnTo>
                  <a:lnTo>
                    <a:pt x="3286657" y="695693"/>
                  </a:lnTo>
                  <a:lnTo>
                    <a:pt x="0" y="695693"/>
                  </a:lnTo>
                  <a:close/>
                </a:path>
              </a:pathLst>
            </a:custGeom>
            <a:solidFill>
              <a:srgbClr val="FFFFFF"/>
            </a:solidFill>
          </p:spPr>
        </p:sp>
      </p:grpSp>
      <p:grpSp>
        <p:nvGrpSpPr>
          <p:cNvPr name="Group 5" id="5"/>
          <p:cNvGrpSpPr/>
          <p:nvPr/>
        </p:nvGrpSpPr>
        <p:grpSpPr>
          <a:xfrm rot="0">
            <a:off x="905495" y="2678722"/>
            <a:ext cx="9009410" cy="5898152"/>
            <a:chOff x="0" y="0"/>
            <a:chExt cx="3286657" cy="2151662"/>
          </a:xfrm>
        </p:grpSpPr>
        <p:sp>
          <p:nvSpPr>
            <p:cNvPr name="Freeform 6" id="6"/>
            <p:cNvSpPr/>
            <p:nvPr/>
          </p:nvSpPr>
          <p:spPr>
            <a:xfrm flipH="false" flipV="false" rot="0">
              <a:off x="0" y="0"/>
              <a:ext cx="3286657" cy="2151662"/>
            </a:xfrm>
            <a:custGeom>
              <a:avLst/>
              <a:gdLst/>
              <a:ahLst/>
              <a:cxnLst/>
              <a:rect r="r" b="b" t="t" l="l"/>
              <a:pathLst>
                <a:path h="2151662" w="3286657">
                  <a:moveTo>
                    <a:pt x="0" y="0"/>
                  </a:moveTo>
                  <a:lnTo>
                    <a:pt x="3286657" y="0"/>
                  </a:lnTo>
                  <a:lnTo>
                    <a:pt x="3286657" y="2151662"/>
                  </a:lnTo>
                  <a:lnTo>
                    <a:pt x="0" y="2151662"/>
                  </a:lnTo>
                  <a:close/>
                </a:path>
              </a:pathLst>
            </a:custGeom>
            <a:solidFill>
              <a:srgbClr val="FFFFFF"/>
            </a:solidFill>
          </p:spPr>
        </p:sp>
      </p:grpSp>
      <p:grpSp>
        <p:nvGrpSpPr>
          <p:cNvPr name="Group 7" id="7"/>
          <p:cNvGrpSpPr/>
          <p:nvPr/>
        </p:nvGrpSpPr>
        <p:grpSpPr>
          <a:xfrm rot="0">
            <a:off x="10261150" y="657204"/>
            <a:ext cx="7087021" cy="8045795"/>
            <a:chOff x="0" y="0"/>
            <a:chExt cx="2585364" cy="2935128"/>
          </a:xfrm>
        </p:grpSpPr>
        <p:sp>
          <p:nvSpPr>
            <p:cNvPr name="Freeform 8" id="8"/>
            <p:cNvSpPr/>
            <p:nvPr/>
          </p:nvSpPr>
          <p:spPr>
            <a:xfrm flipH="false" flipV="false" rot="0">
              <a:off x="0" y="0"/>
              <a:ext cx="2585364" cy="2935128"/>
            </a:xfrm>
            <a:custGeom>
              <a:avLst/>
              <a:gdLst/>
              <a:ahLst/>
              <a:cxnLst/>
              <a:rect r="r" b="b" t="t" l="l"/>
              <a:pathLst>
                <a:path h="2935128" w="2585364">
                  <a:moveTo>
                    <a:pt x="0" y="0"/>
                  </a:moveTo>
                  <a:lnTo>
                    <a:pt x="2585364" y="0"/>
                  </a:lnTo>
                  <a:lnTo>
                    <a:pt x="2585364" y="2935128"/>
                  </a:lnTo>
                  <a:lnTo>
                    <a:pt x="0" y="2935128"/>
                  </a:lnTo>
                  <a:close/>
                </a:path>
              </a:pathLst>
            </a:custGeom>
            <a:solidFill>
              <a:srgbClr val="FFFFFF"/>
            </a:solidFill>
          </p:spPr>
        </p:sp>
      </p:grpSp>
      <p:grpSp>
        <p:nvGrpSpPr>
          <p:cNvPr name="Group 9" id="9"/>
          <p:cNvGrpSpPr/>
          <p:nvPr/>
        </p:nvGrpSpPr>
        <p:grpSpPr>
          <a:xfrm rot="0">
            <a:off x="10626673" y="1028700"/>
            <a:ext cx="6355975" cy="7351955"/>
            <a:chOff x="0" y="0"/>
            <a:chExt cx="8474633" cy="9802607"/>
          </a:xfrm>
        </p:grpSpPr>
        <p:pic>
          <p:nvPicPr>
            <p:cNvPr name="Picture 10" id="10"/>
            <p:cNvPicPr>
              <a:picLocks noChangeAspect="true"/>
            </p:cNvPicPr>
            <p:nvPr/>
          </p:nvPicPr>
          <p:blipFill>
            <a:blip r:embed="rId3"/>
            <a:srcRect l="18339" t="0" r="33031" b="0"/>
            <a:stretch>
              <a:fillRect/>
            </a:stretch>
          </p:blipFill>
          <p:spPr>
            <a:xfrm flipH="false" flipV="false">
              <a:off x="0" y="0"/>
              <a:ext cx="8474633" cy="9802607"/>
            </a:xfrm>
            <a:prstGeom prst="rect">
              <a:avLst/>
            </a:prstGeom>
          </p:spPr>
        </p:pic>
      </p:grpSp>
      <p:sp>
        <p:nvSpPr>
          <p:cNvPr name="Freeform 11" id="11"/>
          <p:cNvSpPr/>
          <p:nvPr/>
        </p:nvSpPr>
        <p:spPr>
          <a:xfrm flipH="false" flipV="false" rot="0">
            <a:off x="15301511" y="-207276"/>
            <a:ext cx="4876557" cy="1728961"/>
          </a:xfrm>
          <a:custGeom>
            <a:avLst/>
            <a:gdLst/>
            <a:ahLst/>
            <a:cxnLst/>
            <a:rect r="r" b="b" t="t" l="l"/>
            <a:pathLst>
              <a:path h="1728961" w="4876557">
                <a:moveTo>
                  <a:pt x="0" y="0"/>
                </a:moveTo>
                <a:lnTo>
                  <a:pt x="4876558" y="0"/>
                </a:lnTo>
                <a:lnTo>
                  <a:pt x="4876558" y="1728961"/>
                </a:lnTo>
                <a:lnTo>
                  <a:pt x="0" y="17289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10800000">
            <a:off x="8469322" y="9150674"/>
            <a:ext cx="4876557" cy="1728961"/>
          </a:xfrm>
          <a:custGeom>
            <a:avLst/>
            <a:gdLst/>
            <a:ahLst/>
            <a:cxnLst/>
            <a:rect r="r" b="b" t="t" l="l"/>
            <a:pathLst>
              <a:path h="1728961" w="4876557">
                <a:moveTo>
                  <a:pt x="0" y="0"/>
                </a:moveTo>
                <a:lnTo>
                  <a:pt x="4876557" y="0"/>
                </a:lnTo>
                <a:lnTo>
                  <a:pt x="4876557" y="1728961"/>
                </a:lnTo>
                <a:lnTo>
                  <a:pt x="0" y="17289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295787" y="291782"/>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1270803" y="952500"/>
            <a:ext cx="12470767" cy="1276350"/>
          </a:xfrm>
          <a:prstGeom prst="rect">
            <a:avLst/>
          </a:prstGeom>
        </p:spPr>
        <p:txBody>
          <a:bodyPr anchor="t" rtlCol="false" tIns="0" lIns="0" bIns="0" rIns="0">
            <a:spAutoFit/>
          </a:bodyPr>
          <a:lstStyle/>
          <a:p>
            <a:pPr algn="l" marL="0" indent="0" lvl="0">
              <a:lnSpc>
                <a:spcPts val="9480"/>
              </a:lnSpc>
              <a:spcBef>
                <a:spcPct val="0"/>
              </a:spcBef>
            </a:pPr>
            <a:r>
              <a:rPr lang="en-US" b="true" sz="7900">
                <a:solidFill>
                  <a:srgbClr val="003EA8"/>
                </a:solidFill>
                <a:latin typeface="Telegraf Bold"/>
                <a:ea typeface="Telegraf Bold"/>
                <a:cs typeface="Telegraf Bold"/>
                <a:sym typeface="Telegraf Bold"/>
              </a:rPr>
              <a:t>Obstáculo mayor </a:t>
            </a:r>
          </a:p>
        </p:txBody>
      </p:sp>
      <p:sp>
        <p:nvSpPr>
          <p:cNvPr name="TextBox 15" id="15"/>
          <p:cNvSpPr txBox="true"/>
          <p:nvPr/>
        </p:nvSpPr>
        <p:spPr>
          <a:xfrm rot="0">
            <a:off x="1028700" y="3593060"/>
            <a:ext cx="9398145" cy="1115060"/>
          </a:xfrm>
          <a:prstGeom prst="rect">
            <a:avLst/>
          </a:prstGeom>
        </p:spPr>
        <p:txBody>
          <a:bodyPr anchor="t" rtlCol="false" tIns="0" lIns="0" bIns="0" rIns="0">
            <a:spAutoFit/>
          </a:bodyPr>
          <a:lstStyle/>
          <a:p>
            <a:pPr algn="l" marL="474979" indent="-237490" lvl="1">
              <a:lnSpc>
                <a:spcPts val="2859"/>
              </a:lnSpc>
              <a:buFont typeface="Arial"/>
              <a:buChar char="•"/>
            </a:pPr>
            <a:r>
              <a:rPr lang="en-US" sz="2199">
                <a:solidFill>
                  <a:srgbClr val="000000"/>
                </a:solidFill>
                <a:latin typeface="Telegraf"/>
                <a:ea typeface="Telegraf"/>
                <a:cs typeface="Telegraf"/>
                <a:sym typeface="Telegraf"/>
              </a:rPr>
              <a:t>Tras haber acordado a priori ciertas hipótesis decidimos hacer recuento de nulos y en algunas series había un porcentaje demasiado elevado por lo que tuvimos que reenfocarnos. </a:t>
            </a:r>
          </a:p>
        </p:txBody>
      </p:sp>
      <p:sp>
        <p:nvSpPr>
          <p:cNvPr name="TextBox 16" id="16"/>
          <p:cNvSpPr txBox="true"/>
          <p:nvPr/>
        </p:nvSpPr>
        <p:spPr>
          <a:xfrm rot="0">
            <a:off x="1028700" y="5408417"/>
            <a:ext cx="7049083" cy="1115060"/>
          </a:xfrm>
          <a:prstGeom prst="rect">
            <a:avLst/>
          </a:prstGeom>
        </p:spPr>
        <p:txBody>
          <a:bodyPr anchor="t" rtlCol="false" tIns="0" lIns="0" bIns="0" rIns="0">
            <a:spAutoFit/>
          </a:bodyPr>
          <a:lstStyle/>
          <a:p>
            <a:pPr algn="l" marL="474979" indent="-237490" lvl="1">
              <a:lnSpc>
                <a:spcPts val="2859"/>
              </a:lnSpc>
              <a:buFont typeface="Arial"/>
              <a:buChar char="•"/>
            </a:pPr>
            <a:r>
              <a:rPr lang="en-US" sz="2199">
                <a:solidFill>
                  <a:srgbClr val="000000"/>
                </a:solidFill>
                <a:latin typeface="Telegraf"/>
                <a:ea typeface="Telegraf"/>
                <a:cs typeface="Telegraf"/>
                <a:sym typeface="Telegraf"/>
              </a:rPr>
              <a:t>La cantidad de valores no válidos y de unicidad de registros fue una tarea muy compleja en categorias como ‘Activity’ o ‘Country’</a:t>
            </a:r>
          </a:p>
        </p:txBody>
      </p:sp>
      <p:sp>
        <p:nvSpPr>
          <p:cNvPr name="TextBox 17" id="17"/>
          <p:cNvSpPr txBox="true"/>
          <p:nvPr/>
        </p:nvSpPr>
        <p:spPr>
          <a:xfrm rot="0">
            <a:off x="1268102" y="2839005"/>
            <a:ext cx="7049083" cy="603250"/>
          </a:xfrm>
          <a:prstGeom prst="rect">
            <a:avLst/>
          </a:prstGeom>
        </p:spPr>
        <p:txBody>
          <a:bodyPr anchor="t" rtlCol="false" tIns="0" lIns="0" bIns="0" rIns="0">
            <a:spAutoFit/>
          </a:bodyPr>
          <a:lstStyle/>
          <a:p>
            <a:pPr algn="l">
              <a:lnSpc>
                <a:spcPts val="4550"/>
              </a:lnSpc>
            </a:pPr>
            <a:r>
              <a:rPr lang="en-US" sz="3500" b="true">
                <a:solidFill>
                  <a:srgbClr val="003EA8"/>
                </a:solidFill>
                <a:latin typeface="Telegraf Bold"/>
                <a:ea typeface="Telegraf Bold"/>
                <a:cs typeface="Telegraf Bold"/>
                <a:sym typeface="Telegraf Bold"/>
              </a:rPr>
              <a:t>Primer obstáculo</a:t>
            </a:r>
          </a:p>
        </p:txBody>
      </p:sp>
      <p:sp>
        <p:nvSpPr>
          <p:cNvPr name="TextBox 18" id="18"/>
          <p:cNvSpPr txBox="true"/>
          <p:nvPr/>
        </p:nvSpPr>
        <p:spPr>
          <a:xfrm rot="0">
            <a:off x="1028700" y="7098152"/>
            <a:ext cx="7049083" cy="391160"/>
          </a:xfrm>
          <a:prstGeom prst="rect">
            <a:avLst/>
          </a:prstGeom>
        </p:spPr>
        <p:txBody>
          <a:bodyPr anchor="t" rtlCol="false" tIns="0" lIns="0" bIns="0" rIns="0">
            <a:spAutoFit/>
          </a:bodyPr>
          <a:lstStyle/>
          <a:p>
            <a:pPr algn="l" marL="474979" indent="-237490" lvl="1">
              <a:lnSpc>
                <a:spcPts val="2859"/>
              </a:lnSpc>
              <a:buFont typeface="Arial"/>
              <a:buChar char="•"/>
            </a:pPr>
          </a:p>
        </p:txBody>
      </p:sp>
      <p:sp>
        <p:nvSpPr>
          <p:cNvPr name="TextBox 19" id="19"/>
          <p:cNvSpPr txBox="true"/>
          <p:nvPr/>
        </p:nvSpPr>
        <p:spPr>
          <a:xfrm rot="0">
            <a:off x="1268102" y="4753311"/>
            <a:ext cx="7049083" cy="603250"/>
          </a:xfrm>
          <a:prstGeom prst="rect">
            <a:avLst/>
          </a:prstGeom>
        </p:spPr>
        <p:txBody>
          <a:bodyPr anchor="t" rtlCol="false" tIns="0" lIns="0" bIns="0" rIns="0">
            <a:spAutoFit/>
          </a:bodyPr>
          <a:lstStyle/>
          <a:p>
            <a:pPr algn="l">
              <a:lnSpc>
                <a:spcPts val="4550"/>
              </a:lnSpc>
            </a:pPr>
            <a:r>
              <a:rPr lang="en-US" sz="3500" b="true">
                <a:solidFill>
                  <a:srgbClr val="003EA8"/>
                </a:solidFill>
                <a:latin typeface="Telegraf Bold"/>
                <a:ea typeface="Telegraf Bold"/>
                <a:cs typeface="Telegraf Bold"/>
                <a:sym typeface="Telegraf Bold"/>
              </a:rPr>
              <a:t>Segundo obstáculo</a:t>
            </a:r>
          </a:p>
        </p:txBody>
      </p:sp>
      <p:sp>
        <p:nvSpPr>
          <p:cNvPr name="TextBox 20" id="20"/>
          <p:cNvSpPr txBox="true"/>
          <p:nvPr/>
        </p:nvSpPr>
        <p:spPr>
          <a:xfrm rot="0">
            <a:off x="1268102" y="6542527"/>
            <a:ext cx="7049083" cy="603250"/>
          </a:xfrm>
          <a:prstGeom prst="rect">
            <a:avLst/>
          </a:prstGeom>
        </p:spPr>
        <p:txBody>
          <a:bodyPr anchor="t" rtlCol="false" tIns="0" lIns="0" bIns="0" rIns="0">
            <a:spAutoFit/>
          </a:bodyPr>
          <a:lstStyle/>
          <a:p>
            <a:pPr algn="l">
              <a:lnSpc>
                <a:spcPts val="4550"/>
              </a:lnSpc>
            </a:pPr>
            <a:r>
              <a:rPr lang="en-US" sz="3500" b="true">
                <a:solidFill>
                  <a:srgbClr val="003EA8"/>
                </a:solidFill>
                <a:latin typeface="Telegraf Bold"/>
                <a:ea typeface="Telegraf Bold"/>
                <a:cs typeface="Telegraf Bold"/>
                <a:sym typeface="Telegraf Bold"/>
              </a:rPr>
              <a:t>Trecer obstáculo</a:t>
            </a:r>
          </a:p>
        </p:txBody>
      </p:sp>
      <p:sp>
        <p:nvSpPr>
          <p:cNvPr name="TextBox 21" id="21"/>
          <p:cNvSpPr txBox="true"/>
          <p:nvPr/>
        </p:nvSpPr>
        <p:spPr>
          <a:xfrm rot="0">
            <a:off x="1487353" y="7098152"/>
            <a:ext cx="8007444" cy="1112330"/>
          </a:xfrm>
          <a:prstGeom prst="rect">
            <a:avLst/>
          </a:prstGeom>
        </p:spPr>
        <p:txBody>
          <a:bodyPr anchor="t" rtlCol="false" tIns="0" lIns="0" bIns="0" rIns="0">
            <a:spAutoFit/>
          </a:bodyPr>
          <a:lstStyle/>
          <a:p>
            <a:pPr algn="l">
              <a:lnSpc>
                <a:spcPts val="2878"/>
              </a:lnSpc>
              <a:spcBef>
                <a:spcPct val="0"/>
              </a:spcBef>
            </a:pPr>
            <a:r>
              <a:rPr lang="en-US" sz="2214">
                <a:solidFill>
                  <a:srgbClr val="000000"/>
                </a:solidFill>
                <a:latin typeface="Telegraf"/>
                <a:ea typeface="Telegraf"/>
                <a:cs typeface="Telegraf"/>
                <a:sym typeface="Telegraf"/>
              </a:rPr>
              <a:t>Decidimos trabajar con df más pequeños según las hipótesis tratadas y aunque en algunos casos nos fue útil, en otros tuvimos problemas con la combinación de df en el df general. </a:t>
            </a:r>
            <a:r>
              <a:rPr lang="en-US" sz="2214">
                <a:solidFill>
                  <a:srgbClr val="000000"/>
                </a:solidFill>
                <a:latin typeface="Telegraf"/>
                <a:ea typeface="Telegraf"/>
                <a:cs typeface="Telegraf"/>
                <a:sym typeface="Telegraf"/>
              </a:rPr>
              <a:t>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1219294" y="4536975"/>
            <a:ext cx="15795020" cy="4622841"/>
            <a:chOff x="0" y="0"/>
            <a:chExt cx="5762066" cy="1686425"/>
          </a:xfrm>
        </p:grpSpPr>
        <p:sp>
          <p:nvSpPr>
            <p:cNvPr name="Freeform 4" id="4"/>
            <p:cNvSpPr/>
            <p:nvPr/>
          </p:nvSpPr>
          <p:spPr>
            <a:xfrm flipH="false" flipV="false" rot="0">
              <a:off x="0" y="0"/>
              <a:ext cx="5762066" cy="1686425"/>
            </a:xfrm>
            <a:custGeom>
              <a:avLst/>
              <a:gdLst/>
              <a:ahLst/>
              <a:cxnLst/>
              <a:rect r="r" b="b" t="t" l="l"/>
              <a:pathLst>
                <a:path h="1686425" w="5762066">
                  <a:moveTo>
                    <a:pt x="0" y="0"/>
                  </a:moveTo>
                  <a:lnTo>
                    <a:pt x="5762066" y="0"/>
                  </a:lnTo>
                  <a:lnTo>
                    <a:pt x="5762066" y="1686425"/>
                  </a:lnTo>
                  <a:lnTo>
                    <a:pt x="0" y="1686425"/>
                  </a:lnTo>
                  <a:close/>
                </a:path>
              </a:pathLst>
            </a:custGeom>
            <a:solidFill>
              <a:srgbClr val="FFFFFF"/>
            </a:solidFill>
          </p:spPr>
        </p:sp>
      </p:grpSp>
      <p:grpSp>
        <p:nvGrpSpPr>
          <p:cNvPr name="Group 5" id="5"/>
          <p:cNvGrpSpPr/>
          <p:nvPr/>
        </p:nvGrpSpPr>
        <p:grpSpPr>
          <a:xfrm rot="0">
            <a:off x="1219294" y="657204"/>
            <a:ext cx="15795020" cy="3879770"/>
            <a:chOff x="0" y="0"/>
            <a:chExt cx="5762066" cy="1415351"/>
          </a:xfrm>
        </p:grpSpPr>
        <p:sp>
          <p:nvSpPr>
            <p:cNvPr name="Freeform 6" id="6"/>
            <p:cNvSpPr/>
            <p:nvPr/>
          </p:nvSpPr>
          <p:spPr>
            <a:xfrm flipH="false" flipV="false" rot="0">
              <a:off x="0" y="0"/>
              <a:ext cx="5762066" cy="1415351"/>
            </a:xfrm>
            <a:custGeom>
              <a:avLst/>
              <a:gdLst/>
              <a:ahLst/>
              <a:cxnLst/>
              <a:rect r="r" b="b" t="t" l="l"/>
              <a:pathLst>
                <a:path h="1415351" w="5762066">
                  <a:moveTo>
                    <a:pt x="0" y="0"/>
                  </a:moveTo>
                  <a:lnTo>
                    <a:pt x="5762066" y="0"/>
                  </a:lnTo>
                  <a:lnTo>
                    <a:pt x="5762066" y="1415351"/>
                  </a:lnTo>
                  <a:lnTo>
                    <a:pt x="0" y="1415351"/>
                  </a:lnTo>
                  <a:close/>
                </a:path>
              </a:pathLst>
            </a:custGeom>
            <a:solidFill>
              <a:srgbClr val="FFFFFF"/>
            </a:solidFill>
          </p:spPr>
        </p:sp>
      </p:grpSp>
      <p:sp>
        <p:nvSpPr>
          <p:cNvPr name="Freeform 7" id="7"/>
          <p:cNvSpPr/>
          <p:nvPr/>
        </p:nvSpPr>
        <p:spPr>
          <a:xfrm flipH="true" flipV="false" rot="0">
            <a:off x="14972495" y="7296334"/>
            <a:ext cx="5533751" cy="1961966"/>
          </a:xfrm>
          <a:custGeom>
            <a:avLst/>
            <a:gdLst/>
            <a:ahLst/>
            <a:cxnLst/>
            <a:rect r="r" b="b" t="t" l="l"/>
            <a:pathLst>
              <a:path h="1961966" w="5533751">
                <a:moveTo>
                  <a:pt x="5533751" y="0"/>
                </a:moveTo>
                <a:lnTo>
                  <a:pt x="0" y="0"/>
                </a:lnTo>
                <a:lnTo>
                  <a:pt x="0" y="1961966"/>
                </a:lnTo>
                <a:lnTo>
                  <a:pt x="5533751" y="1961966"/>
                </a:lnTo>
                <a:lnTo>
                  <a:pt x="553375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2218246" y="7296334"/>
            <a:ext cx="5533751" cy="1961966"/>
          </a:xfrm>
          <a:custGeom>
            <a:avLst/>
            <a:gdLst/>
            <a:ahLst/>
            <a:cxnLst/>
            <a:rect r="r" b="b" t="t" l="l"/>
            <a:pathLst>
              <a:path h="1961966" w="5533751">
                <a:moveTo>
                  <a:pt x="0" y="0"/>
                </a:moveTo>
                <a:lnTo>
                  <a:pt x="5533751" y="0"/>
                </a:lnTo>
                <a:lnTo>
                  <a:pt x="5533751" y="1961966"/>
                </a:lnTo>
                <a:lnTo>
                  <a:pt x="0" y="19619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1810962" y="2454901"/>
            <a:ext cx="14251986" cy="6531434"/>
          </a:xfrm>
          <a:prstGeom prst="rect">
            <a:avLst/>
          </a:prstGeom>
        </p:spPr>
        <p:txBody>
          <a:bodyPr anchor="t" rtlCol="false" tIns="0" lIns="0" bIns="0" rIns="0">
            <a:spAutoFit/>
          </a:bodyPr>
          <a:lstStyle/>
          <a:p>
            <a:pPr algn="just" marL="650691" indent="-325345" lvl="1">
              <a:lnSpc>
                <a:spcPts val="3918"/>
              </a:lnSpc>
              <a:buFont typeface="Arial"/>
              <a:buChar char="•"/>
            </a:pPr>
            <a:r>
              <a:rPr lang="en-US" b="true" sz="3013">
                <a:solidFill>
                  <a:srgbClr val="000000"/>
                </a:solidFill>
                <a:latin typeface="Telegraf Bold"/>
                <a:ea typeface="Telegraf Bold"/>
                <a:cs typeface="Telegraf Bold"/>
                <a:sym typeface="Telegraf Bold"/>
              </a:rPr>
              <a:t>87,5% de las víctimas fueron hombres.</a:t>
            </a:r>
          </a:p>
          <a:p>
            <a:pPr algn="just" marL="650691" indent="-325345" lvl="1">
              <a:lnSpc>
                <a:spcPts val="3918"/>
              </a:lnSpc>
              <a:buFont typeface="Arial"/>
              <a:buChar char="•"/>
            </a:pPr>
            <a:r>
              <a:rPr lang="en-US" b="true" sz="3013">
                <a:solidFill>
                  <a:srgbClr val="000000"/>
                </a:solidFill>
                <a:latin typeface="Telegraf Bold"/>
                <a:ea typeface="Telegraf Bold"/>
                <a:cs typeface="Telegraf Bold"/>
                <a:sym typeface="Telegraf Bold"/>
              </a:rPr>
              <a:t>Surf, natación y pesca son las actividades con más ataques fatales.</a:t>
            </a:r>
          </a:p>
          <a:p>
            <a:pPr algn="just" marL="650691" indent="-325345" lvl="1">
              <a:lnSpc>
                <a:spcPts val="3918"/>
              </a:lnSpc>
              <a:buFont typeface="Arial"/>
              <a:buChar char="•"/>
            </a:pPr>
            <a:r>
              <a:rPr lang="en-US" b="true" sz="3013">
                <a:solidFill>
                  <a:srgbClr val="000000"/>
                </a:solidFill>
                <a:latin typeface="Telegraf Bold"/>
                <a:ea typeface="Telegraf Bold"/>
                <a:cs typeface="Telegraf Bold"/>
                <a:sym typeface="Telegraf Bold"/>
              </a:rPr>
              <a:t>2015 fue el año en que ocurrieron más ataques.</a:t>
            </a:r>
          </a:p>
          <a:p>
            <a:pPr algn="just" marL="650691" indent="-325345" lvl="1">
              <a:lnSpc>
                <a:spcPts val="3918"/>
              </a:lnSpc>
              <a:buFont typeface="Arial"/>
              <a:buChar char="•"/>
            </a:pPr>
            <a:r>
              <a:rPr lang="en-US" b="true" sz="3013">
                <a:solidFill>
                  <a:srgbClr val="000000"/>
                </a:solidFill>
                <a:latin typeface="Telegraf Bold"/>
                <a:ea typeface="Telegraf Bold"/>
                <a:cs typeface="Telegraf Bold"/>
                <a:sym typeface="Telegraf Bold"/>
              </a:rPr>
              <a:t>La mayoría de los ataques fatales no fueron provocados, lo que indica que la agresividad del tiburón no depende de la provocación en la mayoría de los casos.</a:t>
            </a:r>
          </a:p>
          <a:p>
            <a:pPr algn="just" marL="650691" indent="-325345" lvl="1">
              <a:lnSpc>
                <a:spcPts val="3918"/>
              </a:lnSpc>
              <a:buFont typeface="Arial"/>
              <a:buChar char="•"/>
            </a:pPr>
            <a:r>
              <a:rPr lang="en-US" b="true" sz="3013">
                <a:solidFill>
                  <a:srgbClr val="000000"/>
                </a:solidFill>
                <a:latin typeface="Telegraf Bold"/>
                <a:ea typeface="Telegraf Bold"/>
                <a:cs typeface="Telegraf Bold"/>
                <a:sym typeface="Telegraf Bold"/>
              </a:rPr>
              <a:t>La mayor concentración de ataques ocurre en el tercer trimestre del año. Teniendo en cuenta que los ataques son sobre todo en USA, los ataques son mayoritariamente en verano. Sin embargo, en el caso de Nueva Zelanda y Sudáfrica, las dos siguientes localizaciones, se concentran mayoritariamente en el primer trimestre del año. </a:t>
            </a:r>
          </a:p>
          <a:p>
            <a:pPr algn="ctr">
              <a:lnSpc>
                <a:spcPts val="3918"/>
              </a:lnSpc>
            </a:pPr>
            <a:r>
              <a:rPr lang="en-US" sz="3013" b="true">
                <a:solidFill>
                  <a:srgbClr val="000000"/>
                </a:solidFill>
                <a:latin typeface="Telegraf Bold"/>
                <a:ea typeface="Telegraf Bold"/>
                <a:cs typeface="Telegraf Bold"/>
                <a:sym typeface="Telegraf Bold"/>
              </a:rPr>
              <a:t> </a:t>
            </a:r>
          </a:p>
          <a:p>
            <a:pPr algn="ctr" marL="1474097" indent="-491366" lvl="2">
              <a:lnSpc>
                <a:spcPts val="4437"/>
              </a:lnSpc>
              <a:buFont typeface="Arial"/>
              <a:buChar char="⚬"/>
            </a:pPr>
          </a:p>
        </p:txBody>
      </p:sp>
      <p:sp>
        <p:nvSpPr>
          <p:cNvPr name="TextBox 10" id="10"/>
          <p:cNvSpPr txBox="true"/>
          <p:nvPr/>
        </p:nvSpPr>
        <p:spPr>
          <a:xfrm rot="0">
            <a:off x="2170659" y="1215039"/>
            <a:ext cx="13892290" cy="895350"/>
          </a:xfrm>
          <a:prstGeom prst="rect">
            <a:avLst/>
          </a:prstGeom>
        </p:spPr>
        <p:txBody>
          <a:bodyPr anchor="t" rtlCol="false" tIns="0" lIns="0" bIns="0" rIns="0">
            <a:spAutoFit/>
          </a:bodyPr>
          <a:lstStyle/>
          <a:p>
            <a:pPr algn="ctr">
              <a:lnSpc>
                <a:spcPts val="6599"/>
              </a:lnSpc>
            </a:pPr>
            <a:r>
              <a:rPr lang="en-US" b="true" sz="5499">
                <a:solidFill>
                  <a:srgbClr val="003EA8"/>
                </a:solidFill>
                <a:latin typeface="Telegraf Bold"/>
                <a:ea typeface="Telegraf Bold"/>
                <a:cs typeface="Telegraf Bold"/>
                <a:sym typeface="Telegraf Bold"/>
              </a:rPr>
              <a:t>Resultados</a:t>
            </a:r>
          </a:p>
        </p:txBody>
      </p:sp>
      <p:sp>
        <p:nvSpPr>
          <p:cNvPr name="Freeform 11" id="11"/>
          <p:cNvSpPr/>
          <p:nvPr/>
        </p:nvSpPr>
        <p:spPr>
          <a:xfrm flipH="false" flipV="false" rot="0">
            <a:off x="16793505" y="3742304"/>
            <a:ext cx="441616" cy="633141"/>
          </a:xfrm>
          <a:custGeom>
            <a:avLst/>
            <a:gdLst/>
            <a:ahLst/>
            <a:cxnLst/>
            <a:rect r="r" b="b" t="t" l="l"/>
            <a:pathLst>
              <a:path h="633141" w="441616">
                <a:moveTo>
                  <a:pt x="0" y="0"/>
                </a:moveTo>
                <a:lnTo>
                  <a:pt x="441616" y="0"/>
                </a:lnTo>
                <a:lnTo>
                  <a:pt x="441616"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009650" y="1281714"/>
            <a:ext cx="441616" cy="633141"/>
          </a:xfrm>
          <a:custGeom>
            <a:avLst/>
            <a:gdLst/>
            <a:ahLst/>
            <a:cxnLst/>
            <a:rect r="r" b="b" t="t" l="l"/>
            <a:pathLst>
              <a:path h="633141" w="441616">
                <a:moveTo>
                  <a:pt x="0" y="0"/>
                </a:moveTo>
                <a:lnTo>
                  <a:pt x="441616" y="0"/>
                </a:lnTo>
                <a:lnTo>
                  <a:pt x="441616"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21378" y="1131333"/>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sp>
        <p:nvSpPr>
          <p:cNvPr name="Freeform 5" id="5"/>
          <p:cNvSpPr/>
          <p:nvPr/>
        </p:nvSpPr>
        <p:spPr>
          <a:xfrm flipH="true" flipV="false" rot="0">
            <a:off x="16432417" y="7466468"/>
            <a:ext cx="2205630" cy="3767380"/>
          </a:xfrm>
          <a:custGeom>
            <a:avLst/>
            <a:gdLst/>
            <a:ahLst/>
            <a:cxnLst/>
            <a:rect r="r" b="b" t="t" l="l"/>
            <a:pathLst>
              <a:path h="3767380" w="2205630">
                <a:moveTo>
                  <a:pt x="2205630" y="0"/>
                </a:moveTo>
                <a:lnTo>
                  <a:pt x="0" y="0"/>
                </a:lnTo>
                <a:lnTo>
                  <a:pt x="0" y="3767381"/>
                </a:lnTo>
                <a:lnTo>
                  <a:pt x="2205630" y="3767381"/>
                </a:lnTo>
                <a:lnTo>
                  <a:pt x="220563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463879" y="-156776"/>
            <a:ext cx="441616" cy="633141"/>
          </a:xfrm>
          <a:custGeom>
            <a:avLst/>
            <a:gdLst/>
            <a:ahLst/>
            <a:cxnLst/>
            <a:rect r="r" b="b" t="t" l="l"/>
            <a:pathLst>
              <a:path h="633141" w="441616">
                <a:moveTo>
                  <a:pt x="0" y="0"/>
                </a:moveTo>
                <a:lnTo>
                  <a:pt x="441616" y="0"/>
                </a:lnTo>
                <a:lnTo>
                  <a:pt x="441616" y="633141"/>
                </a:lnTo>
                <a:lnTo>
                  <a:pt x="0" y="63314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6211609" y="8717018"/>
            <a:ext cx="441616" cy="633141"/>
          </a:xfrm>
          <a:custGeom>
            <a:avLst/>
            <a:gdLst/>
            <a:ahLst/>
            <a:cxnLst/>
            <a:rect r="r" b="b" t="t" l="l"/>
            <a:pathLst>
              <a:path h="633141" w="441616">
                <a:moveTo>
                  <a:pt x="0" y="0"/>
                </a:moveTo>
                <a:lnTo>
                  <a:pt x="441616" y="0"/>
                </a:lnTo>
                <a:lnTo>
                  <a:pt x="441616" y="633140"/>
                </a:lnTo>
                <a:lnTo>
                  <a:pt x="0" y="63314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9" id="9"/>
          <p:cNvGrpSpPr/>
          <p:nvPr/>
        </p:nvGrpSpPr>
        <p:grpSpPr>
          <a:xfrm rot="0">
            <a:off x="1439477" y="3567726"/>
            <a:ext cx="4449095" cy="708239"/>
            <a:chOff x="0" y="0"/>
            <a:chExt cx="5932127" cy="944318"/>
          </a:xfrm>
        </p:grpSpPr>
        <p:grpSp>
          <p:nvGrpSpPr>
            <p:cNvPr name="Group 10" id="10"/>
            <p:cNvGrpSpPr/>
            <p:nvPr/>
          </p:nvGrpSpPr>
          <p:grpSpPr>
            <a:xfrm rot="0">
              <a:off x="0" y="0"/>
              <a:ext cx="5932127" cy="944318"/>
              <a:chOff x="0" y="0"/>
              <a:chExt cx="5209355" cy="829262"/>
            </a:xfrm>
          </p:grpSpPr>
          <p:sp>
            <p:nvSpPr>
              <p:cNvPr name="Freeform 11" id="11"/>
              <p:cNvSpPr/>
              <p:nvPr/>
            </p:nvSpPr>
            <p:spPr>
              <a:xfrm flipH="false" flipV="false" rot="0">
                <a:off x="0" y="0"/>
                <a:ext cx="5209355" cy="829262"/>
              </a:xfrm>
              <a:custGeom>
                <a:avLst/>
                <a:gdLst/>
                <a:ahLst/>
                <a:cxnLst/>
                <a:rect r="r" b="b" t="t" l="l"/>
                <a:pathLst>
                  <a:path h="829262" w="5209355">
                    <a:moveTo>
                      <a:pt x="0" y="0"/>
                    </a:moveTo>
                    <a:lnTo>
                      <a:pt x="5209355" y="0"/>
                    </a:lnTo>
                    <a:lnTo>
                      <a:pt x="5209355" y="829262"/>
                    </a:lnTo>
                    <a:lnTo>
                      <a:pt x="0" y="829262"/>
                    </a:lnTo>
                    <a:close/>
                  </a:path>
                </a:pathLst>
              </a:custGeom>
              <a:solidFill>
                <a:srgbClr val="FFFFFF"/>
              </a:solidFill>
            </p:spPr>
          </p:sp>
        </p:grpSp>
        <p:sp>
          <p:nvSpPr>
            <p:cNvPr name="TextBox 12" id="12"/>
            <p:cNvSpPr txBox="true"/>
            <p:nvPr/>
          </p:nvSpPr>
          <p:spPr>
            <a:xfrm rot="0">
              <a:off x="95364" y="179586"/>
              <a:ext cx="5741400" cy="574214"/>
            </a:xfrm>
            <a:prstGeom prst="rect">
              <a:avLst/>
            </a:prstGeom>
          </p:spPr>
          <p:txBody>
            <a:bodyPr anchor="t" rtlCol="false" tIns="0" lIns="0" bIns="0" rIns="0">
              <a:spAutoFit/>
            </a:bodyPr>
            <a:lstStyle/>
            <a:p>
              <a:pPr algn="ctr">
                <a:lnSpc>
                  <a:spcPts val="3320"/>
                </a:lnSpc>
                <a:spcBef>
                  <a:spcPct val="0"/>
                </a:spcBef>
              </a:pPr>
              <a:r>
                <a:rPr lang="en-US" sz="2554">
                  <a:solidFill>
                    <a:srgbClr val="003EA8"/>
                  </a:solidFill>
                  <a:latin typeface="Telegraf"/>
                  <a:ea typeface="Telegraf"/>
                  <a:cs typeface="Telegraf"/>
                  <a:sym typeface="Telegraf"/>
                </a:rPr>
                <a:t>Sexo más atacado </a:t>
              </a:r>
            </a:p>
          </p:txBody>
        </p:sp>
      </p:grpSp>
      <p:grpSp>
        <p:nvGrpSpPr>
          <p:cNvPr name="Group 13" id="13"/>
          <p:cNvGrpSpPr/>
          <p:nvPr/>
        </p:nvGrpSpPr>
        <p:grpSpPr>
          <a:xfrm rot="0">
            <a:off x="9009631" y="3567726"/>
            <a:ext cx="4449095" cy="708239"/>
            <a:chOff x="0" y="0"/>
            <a:chExt cx="5932127" cy="944318"/>
          </a:xfrm>
        </p:grpSpPr>
        <p:grpSp>
          <p:nvGrpSpPr>
            <p:cNvPr name="Group 14" id="14"/>
            <p:cNvGrpSpPr/>
            <p:nvPr/>
          </p:nvGrpSpPr>
          <p:grpSpPr>
            <a:xfrm rot="0">
              <a:off x="0" y="0"/>
              <a:ext cx="5932127" cy="944318"/>
              <a:chOff x="0" y="0"/>
              <a:chExt cx="5209355" cy="829262"/>
            </a:xfrm>
          </p:grpSpPr>
          <p:sp>
            <p:nvSpPr>
              <p:cNvPr name="Freeform 15" id="15"/>
              <p:cNvSpPr/>
              <p:nvPr/>
            </p:nvSpPr>
            <p:spPr>
              <a:xfrm flipH="false" flipV="false" rot="0">
                <a:off x="0" y="0"/>
                <a:ext cx="5209355" cy="829262"/>
              </a:xfrm>
              <a:custGeom>
                <a:avLst/>
                <a:gdLst/>
                <a:ahLst/>
                <a:cxnLst/>
                <a:rect r="r" b="b" t="t" l="l"/>
                <a:pathLst>
                  <a:path h="829262" w="5209355">
                    <a:moveTo>
                      <a:pt x="0" y="0"/>
                    </a:moveTo>
                    <a:lnTo>
                      <a:pt x="5209355" y="0"/>
                    </a:lnTo>
                    <a:lnTo>
                      <a:pt x="5209355" y="829262"/>
                    </a:lnTo>
                    <a:lnTo>
                      <a:pt x="0" y="829262"/>
                    </a:lnTo>
                    <a:close/>
                  </a:path>
                </a:pathLst>
              </a:custGeom>
              <a:solidFill>
                <a:srgbClr val="FFFFFF"/>
              </a:solidFill>
            </p:spPr>
          </p:sp>
        </p:grpSp>
        <p:sp>
          <p:nvSpPr>
            <p:cNvPr name="TextBox 16" id="16"/>
            <p:cNvSpPr txBox="true"/>
            <p:nvPr/>
          </p:nvSpPr>
          <p:spPr>
            <a:xfrm rot="0">
              <a:off x="95364" y="179586"/>
              <a:ext cx="5741400" cy="574214"/>
            </a:xfrm>
            <a:prstGeom prst="rect">
              <a:avLst/>
            </a:prstGeom>
          </p:spPr>
          <p:txBody>
            <a:bodyPr anchor="t" rtlCol="false" tIns="0" lIns="0" bIns="0" rIns="0">
              <a:spAutoFit/>
            </a:bodyPr>
            <a:lstStyle/>
            <a:p>
              <a:pPr algn="ctr">
                <a:lnSpc>
                  <a:spcPts val="3320"/>
                </a:lnSpc>
                <a:spcBef>
                  <a:spcPct val="0"/>
                </a:spcBef>
              </a:pPr>
              <a:r>
                <a:rPr lang="en-US" sz="2554">
                  <a:solidFill>
                    <a:srgbClr val="003EA8"/>
                  </a:solidFill>
                  <a:latin typeface="Telegraf"/>
                  <a:ea typeface="Telegraf"/>
                  <a:cs typeface="Telegraf"/>
                  <a:sym typeface="Telegraf"/>
                </a:rPr>
                <a:t>Año con más ataques</a:t>
              </a:r>
            </a:p>
          </p:txBody>
        </p:sp>
      </p:grpSp>
      <p:sp>
        <p:nvSpPr>
          <p:cNvPr name="TextBox 17" id="17"/>
          <p:cNvSpPr txBox="true"/>
          <p:nvPr/>
        </p:nvSpPr>
        <p:spPr>
          <a:xfrm rot="0">
            <a:off x="-237820" y="1394984"/>
            <a:ext cx="18147723" cy="1133475"/>
          </a:xfrm>
          <a:prstGeom prst="rect">
            <a:avLst/>
          </a:prstGeom>
        </p:spPr>
        <p:txBody>
          <a:bodyPr anchor="t" rtlCol="false" tIns="0" lIns="0" bIns="0" rIns="0">
            <a:spAutoFit/>
          </a:bodyPr>
          <a:lstStyle/>
          <a:p>
            <a:pPr algn="ctr">
              <a:lnSpc>
                <a:spcPts val="8399"/>
              </a:lnSpc>
            </a:pPr>
            <a:r>
              <a:rPr lang="en-US" b="true" sz="6999">
                <a:solidFill>
                  <a:srgbClr val="003EA8"/>
                </a:solidFill>
                <a:latin typeface="Telegraf Bold"/>
                <a:ea typeface="Telegraf Bold"/>
                <a:cs typeface="Telegraf Bold"/>
                <a:sym typeface="Telegraf Bold"/>
              </a:rPr>
              <a:t>Nuestros resultados visualmente </a:t>
            </a:r>
          </a:p>
        </p:txBody>
      </p:sp>
      <p:pic>
        <p:nvPicPr>
          <p:cNvPr name="Picture 18" id="18"/>
          <p:cNvPicPr>
            <a:picLocks noChangeAspect="true"/>
          </p:cNvPicPr>
          <p:nvPr/>
        </p:nvPicPr>
        <p:blipFill>
          <a:blip r:embed="rId9"/>
          <a:stretch>
            <a:fillRect/>
          </a:stretch>
        </p:blipFill>
        <p:spPr>
          <a:xfrm rot="0">
            <a:off x="1466681" y="4253584"/>
            <a:ext cx="4394687" cy="4869199"/>
          </a:xfrm>
          <a:prstGeom prst="rect">
            <a:avLst/>
          </a:prstGeom>
        </p:spPr>
      </p:pic>
      <p:pic>
        <p:nvPicPr>
          <p:cNvPr name="Picture 19" id="19"/>
          <p:cNvPicPr>
            <a:picLocks noChangeAspect="true"/>
          </p:cNvPicPr>
          <p:nvPr/>
        </p:nvPicPr>
        <p:blipFill>
          <a:blip r:embed="rId10"/>
          <a:stretch>
            <a:fillRect/>
          </a:stretch>
        </p:blipFill>
        <p:spPr>
          <a:xfrm rot="0">
            <a:off x="5748734" y="3503945"/>
            <a:ext cx="10769800" cy="6810066"/>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21378" y="1131333"/>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sp>
        <p:nvSpPr>
          <p:cNvPr name="Freeform 5" id="5"/>
          <p:cNvSpPr/>
          <p:nvPr/>
        </p:nvSpPr>
        <p:spPr>
          <a:xfrm flipH="true" flipV="false" rot="0">
            <a:off x="16432417" y="7466468"/>
            <a:ext cx="2205630" cy="3767380"/>
          </a:xfrm>
          <a:custGeom>
            <a:avLst/>
            <a:gdLst/>
            <a:ahLst/>
            <a:cxnLst/>
            <a:rect r="r" b="b" t="t" l="l"/>
            <a:pathLst>
              <a:path h="3767380" w="2205630">
                <a:moveTo>
                  <a:pt x="2205630" y="0"/>
                </a:moveTo>
                <a:lnTo>
                  <a:pt x="0" y="0"/>
                </a:lnTo>
                <a:lnTo>
                  <a:pt x="0" y="3767381"/>
                </a:lnTo>
                <a:lnTo>
                  <a:pt x="2205630" y="3767381"/>
                </a:lnTo>
                <a:lnTo>
                  <a:pt x="220563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463879" y="-156776"/>
            <a:ext cx="441616" cy="633141"/>
          </a:xfrm>
          <a:custGeom>
            <a:avLst/>
            <a:gdLst/>
            <a:ahLst/>
            <a:cxnLst/>
            <a:rect r="r" b="b" t="t" l="l"/>
            <a:pathLst>
              <a:path h="633141" w="441616">
                <a:moveTo>
                  <a:pt x="0" y="0"/>
                </a:moveTo>
                <a:lnTo>
                  <a:pt x="441616" y="0"/>
                </a:lnTo>
                <a:lnTo>
                  <a:pt x="441616" y="633141"/>
                </a:lnTo>
                <a:lnTo>
                  <a:pt x="0" y="63314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6211609" y="8717018"/>
            <a:ext cx="441616" cy="633141"/>
          </a:xfrm>
          <a:custGeom>
            <a:avLst/>
            <a:gdLst/>
            <a:ahLst/>
            <a:cxnLst/>
            <a:rect r="r" b="b" t="t" l="l"/>
            <a:pathLst>
              <a:path h="633141" w="441616">
                <a:moveTo>
                  <a:pt x="0" y="0"/>
                </a:moveTo>
                <a:lnTo>
                  <a:pt x="441616" y="0"/>
                </a:lnTo>
                <a:lnTo>
                  <a:pt x="441616" y="633140"/>
                </a:lnTo>
                <a:lnTo>
                  <a:pt x="0" y="63314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aphicFrame>
        <p:nvGraphicFramePr>
          <p:cNvPr name="Object 9" id="9"/>
          <p:cNvGraphicFramePr/>
          <p:nvPr/>
        </p:nvGraphicFramePr>
        <p:xfrm>
          <a:off x="4123376" y="4411095"/>
          <a:ext cx="5657850" cy="5029200"/>
        </p:xfrm>
        <a:graphic>
          <a:graphicData uri="http://schemas.openxmlformats.org/presentationml/2006/ole">
            <p:oleObj imgW="6781800" imgH="6159500" r:id="rId10" progId="Excel.Sheet.12" name="Worksheet">
              <p:embed/>
              <p:pic>
                <p:nvPicPr>
                  <p:cNvPr name="" id="0"/>
                  <p:cNvPicPr/>
                  <p:nvPr/>
                </p:nvPicPr>
                <p:blipFill>
                  <a:blip r:embed="rId9"/>
                  <a:stretch>
                    <a:fillRect/>
                  </a:stretch>
                </p:blipFill>
                <p:spPr>
                  <a:xfrm>
                    <a:off x="1270000" y="1270000"/>
                    <a:ext cx="1270000" cy="1270000"/>
                  </a:xfrm>
                  <a:prstGeom prst="rect"/>
                </p:spPr>
              </p:pic>
            </p:oleObj>
          </a:graphicData>
        </a:graphic>
      </p:graphicFrame>
      <p:grpSp>
        <p:nvGrpSpPr>
          <p:cNvPr name="Group 10" id="10"/>
          <p:cNvGrpSpPr/>
          <p:nvPr/>
        </p:nvGrpSpPr>
        <p:grpSpPr>
          <a:xfrm rot="0">
            <a:off x="3830686" y="3484814"/>
            <a:ext cx="4449095" cy="708239"/>
            <a:chOff x="0" y="0"/>
            <a:chExt cx="5932127" cy="944318"/>
          </a:xfrm>
        </p:grpSpPr>
        <p:grpSp>
          <p:nvGrpSpPr>
            <p:cNvPr name="Group 11" id="11"/>
            <p:cNvGrpSpPr/>
            <p:nvPr/>
          </p:nvGrpSpPr>
          <p:grpSpPr>
            <a:xfrm rot="0">
              <a:off x="0" y="0"/>
              <a:ext cx="5932127" cy="944318"/>
              <a:chOff x="0" y="0"/>
              <a:chExt cx="5209355" cy="829262"/>
            </a:xfrm>
          </p:grpSpPr>
          <p:sp>
            <p:nvSpPr>
              <p:cNvPr name="Freeform 12" id="12"/>
              <p:cNvSpPr/>
              <p:nvPr/>
            </p:nvSpPr>
            <p:spPr>
              <a:xfrm flipH="false" flipV="false" rot="0">
                <a:off x="0" y="0"/>
                <a:ext cx="5209355" cy="829262"/>
              </a:xfrm>
              <a:custGeom>
                <a:avLst/>
                <a:gdLst/>
                <a:ahLst/>
                <a:cxnLst/>
                <a:rect r="r" b="b" t="t" l="l"/>
                <a:pathLst>
                  <a:path h="829262" w="5209355">
                    <a:moveTo>
                      <a:pt x="0" y="0"/>
                    </a:moveTo>
                    <a:lnTo>
                      <a:pt x="5209355" y="0"/>
                    </a:lnTo>
                    <a:lnTo>
                      <a:pt x="5209355" y="829262"/>
                    </a:lnTo>
                    <a:lnTo>
                      <a:pt x="0" y="829262"/>
                    </a:lnTo>
                    <a:close/>
                  </a:path>
                </a:pathLst>
              </a:custGeom>
              <a:solidFill>
                <a:srgbClr val="FFFFFF"/>
              </a:solidFill>
            </p:spPr>
          </p:sp>
        </p:grpSp>
        <p:sp>
          <p:nvSpPr>
            <p:cNvPr name="TextBox 13" id="13"/>
            <p:cNvSpPr txBox="true"/>
            <p:nvPr/>
          </p:nvSpPr>
          <p:spPr>
            <a:xfrm rot="0">
              <a:off x="95364" y="179586"/>
              <a:ext cx="5741400" cy="574214"/>
            </a:xfrm>
            <a:prstGeom prst="rect">
              <a:avLst/>
            </a:prstGeom>
          </p:spPr>
          <p:txBody>
            <a:bodyPr anchor="t" rtlCol="false" tIns="0" lIns="0" bIns="0" rIns="0">
              <a:spAutoFit/>
            </a:bodyPr>
            <a:lstStyle/>
            <a:p>
              <a:pPr algn="ctr">
                <a:lnSpc>
                  <a:spcPts val="3320"/>
                </a:lnSpc>
                <a:spcBef>
                  <a:spcPct val="0"/>
                </a:spcBef>
              </a:pPr>
              <a:r>
                <a:rPr lang="en-US" sz="2554">
                  <a:solidFill>
                    <a:srgbClr val="003EA8"/>
                  </a:solidFill>
                  <a:latin typeface="Telegraf"/>
                  <a:ea typeface="Telegraf"/>
                  <a:cs typeface="Telegraf"/>
                  <a:sym typeface="Telegraf"/>
                </a:rPr>
                <a:t>Ratio provocado-muerte</a:t>
              </a:r>
            </a:p>
          </p:txBody>
        </p:sp>
      </p:grpSp>
      <p:graphicFrame>
        <p:nvGraphicFramePr>
          <p:cNvPr name="Object 14" id="14"/>
          <p:cNvGraphicFramePr/>
          <p:nvPr/>
        </p:nvGraphicFramePr>
        <p:xfrm>
          <a:off x="10260429" y="4411095"/>
          <a:ext cx="5657850" cy="5029200"/>
        </p:xfrm>
        <a:graphic>
          <a:graphicData uri="http://schemas.openxmlformats.org/presentationml/2006/ole">
            <p:oleObj imgW="6781800" imgH="6159500" r:id="rId12" progId="Excel.Sheet.12" name="Worksheet">
              <p:embed/>
              <p:pic>
                <p:nvPicPr>
                  <p:cNvPr name="" id="0"/>
                  <p:cNvPicPr/>
                  <p:nvPr/>
                </p:nvPicPr>
                <p:blipFill>
                  <a:blip r:embed="rId11"/>
                  <a:stretch>
                    <a:fillRect/>
                  </a:stretch>
                </p:blipFill>
                <p:spPr>
                  <a:xfrm>
                    <a:off x="1270000" y="1270000"/>
                    <a:ext cx="1270000" cy="1270000"/>
                  </a:xfrm>
                  <a:prstGeom prst="rect"/>
                </p:spPr>
              </p:pic>
            </p:oleObj>
          </a:graphicData>
        </a:graphic>
      </p:graphicFrame>
      <p:sp>
        <p:nvSpPr>
          <p:cNvPr name="TextBox 15" id="15"/>
          <p:cNvSpPr txBox="true"/>
          <p:nvPr/>
        </p:nvSpPr>
        <p:spPr>
          <a:xfrm rot="0">
            <a:off x="-237820" y="1394984"/>
            <a:ext cx="18147723" cy="1133475"/>
          </a:xfrm>
          <a:prstGeom prst="rect">
            <a:avLst/>
          </a:prstGeom>
        </p:spPr>
        <p:txBody>
          <a:bodyPr anchor="t" rtlCol="false" tIns="0" lIns="0" bIns="0" rIns="0">
            <a:spAutoFit/>
          </a:bodyPr>
          <a:lstStyle/>
          <a:p>
            <a:pPr algn="ctr">
              <a:lnSpc>
                <a:spcPts val="8399"/>
              </a:lnSpc>
            </a:pPr>
            <a:r>
              <a:rPr lang="en-US" b="true" sz="6999">
                <a:solidFill>
                  <a:srgbClr val="003EA8"/>
                </a:solidFill>
                <a:latin typeface="Telegraf Bold"/>
                <a:ea typeface="Telegraf Bold"/>
                <a:cs typeface="Telegraf Bold"/>
                <a:sym typeface="Telegraf Bold"/>
              </a:rPr>
              <a:t>Nuestros resultados visualmente </a:t>
            </a:r>
          </a:p>
        </p:txBody>
      </p:sp>
      <p:grpSp>
        <p:nvGrpSpPr>
          <p:cNvPr name="Group 16" id="16"/>
          <p:cNvGrpSpPr/>
          <p:nvPr/>
        </p:nvGrpSpPr>
        <p:grpSpPr>
          <a:xfrm rot="0">
            <a:off x="9692183" y="3484814"/>
            <a:ext cx="4449095" cy="708239"/>
            <a:chOff x="0" y="0"/>
            <a:chExt cx="5932127" cy="944318"/>
          </a:xfrm>
        </p:grpSpPr>
        <p:grpSp>
          <p:nvGrpSpPr>
            <p:cNvPr name="Group 17" id="17"/>
            <p:cNvGrpSpPr/>
            <p:nvPr/>
          </p:nvGrpSpPr>
          <p:grpSpPr>
            <a:xfrm rot="0">
              <a:off x="0" y="0"/>
              <a:ext cx="5932127" cy="944318"/>
              <a:chOff x="0" y="0"/>
              <a:chExt cx="5209355" cy="829262"/>
            </a:xfrm>
          </p:grpSpPr>
          <p:sp>
            <p:nvSpPr>
              <p:cNvPr name="Freeform 18" id="18"/>
              <p:cNvSpPr/>
              <p:nvPr/>
            </p:nvSpPr>
            <p:spPr>
              <a:xfrm flipH="false" flipV="false" rot="0">
                <a:off x="0" y="0"/>
                <a:ext cx="5209355" cy="829262"/>
              </a:xfrm>
              <a:custGeom>
                <a:avLst/>
                <a:gdLst/>
                <a:ahLst/>
                <a:cxnLst/>
                <a:rect r="r" b="b" t="t" l="l"/>
                <a:pathLst>
                  <a:path h="829262" w="5209355">
                    <a:moveTo>
                      <a:pt x="0" y="0"/>
                    </a:moveTo>
                    <a:lnTo>
                      <a:pt x="5209355" y="0"/>
                    </a:lnTo>
                    <a:lnTo>
                      <a:pt x="5209355" y="829262"/>
                    </a:lnTo>
                    <a:lnTo>
                      <a:pt x="0" y="829262"/>
                    </a:lnTo>
                    <a:close/>
                  </a:path>
                </a:pathLst>
              </a:custGeom>
              <a:solidFill>
                <a:srgbClr val="FFFFFF"/>
              </a:solidFill>
            </p:spPr>
          </p:sp>
        </p:grpSp>
        <p:sp>
          <p:nvSpPr>
            <p:cNvPr name="TextBox 19" id="19"/>
            <p:cNvSpPr txBox="true"/>
            <p:nvPr/>
          </p:nvSpPr>
          <p:spPr>
            <a:xfrm rot="0">
              <a:off x="95364" y="179586"/>
              <a:ext cx="5741400" cy="574214"/>
            </a:xfrm>
            <a:prstGeom prst="rect">
              <a:avLst/>
            </a:prstGeom>
          </p:spPr>
          <p:txBody>
            <a:bodyPr anchor="t" rtlCol="false" tIns="0" lIns="0" bIns="0" rIns="0">
              <a:spAutoFit/>
            </a:bodyPr>
            <a:lstStyle/>
            <a:p>
              <a:pPr algn="ctr">
                <a:lnSpc>
                  <a:spcPts val="3320"/>
                </a:lnSpc>
                <a:spcBef>
                  <a:spcPct val="0"/>
                </a:spcBef>
              </a:pPr>
              <a:r>
                <a:rPr lang="en-US" sz="2554">
                  <a:solidFill>
                    <a:srgbClr val="003EA8"/>
                  </a:solidFill>
                  <a:latin typeface="Telegraf"/>
                  <a:ea typeface="Telegraf"/>
                  <a:cs typeface="Telegraf"/>
                  <a:sym typeface="Telegraf"/>
                </a:rPr>
                <a:t>Países más atacados </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21378" y="1131333"/>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sp>
        <p:nvSpPr>
          <p:cNvPr name="Freeform 5" id="5"/>
          <p:cNvSpPr/>
          <p:nvPr/>
        </p:nvSpPr>
        <p:spPr>
          <a:xfrm flipH="true" flipV="false" rot="0">
            <a:off x="16432417" y="7466468"/>
            <a:ext cx="2205630" cy="3767380"/>
          </a:xfrm>
          <a:custGeom>
            <a:avLst/>
            <a:gdLst/>
            <a:ahLst/>
            <a:cxnLst/>
            <a:rect r="r" b="b" t="t" l="l"/>
            <a:pathLst>
              <a:path h="3767380" w="2205630">
                <a:moveTo>
                  <a:pt x="2205630" y="0"/>
                </a:moveTo>
                <a:lnTo>
                  <a:pt x="0" y="0"/>
                </a:lnTo>
                <a:lnTo>
                  <a:pt x="0" y="3767381"/>
                </a:lnTo>
                <a:lnTo>
                  <a:pt x="2205630" y="3767381"/>
                </a:lnTo>
                <a:lnTo>
                  <a:pt x="220563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463879" y="-156776"/>
            <a:ext cx="441616" cy="633141"/>
          </a:xfrm>
          <a:custGeom>
            <a:avLst/>
            <a:gdLst/>
            <a:ahLst/>
            <a:cxnLst/>
            <a:rect r="r" b="b" t="t" l="l"/>
            <a:pathLst>
              <a:path h="633141" w="441616">
                <a:moveTo>
                  <a:pt x="0" y="0"/>
                </a:moveTo>
                <a:lnTo>
                  <a:pt x="441616" y="0"/>
                </a:lnTo>
                <a:lnTo>
                  <a:pt x="441616" y="633141"/>
                </a:lnTo>
                <a:lnTo>
                  <a:pt x="0" y="63314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6211609" y="8717018"/>
            <a:ext cx="441616" cy="633141"/>
          </a:xfrm>
          <a:custGeom>
            <a:avLst/>
            <a:gdLst/>
            <a:ahLst/>
            <a:cxnLst/>
            <a:rect r="r" b="b" t="t" l="l"/>
            <a:pathLst>
              <a:path h="633141" w="441616">
                <a:moveTo>
                  <a:pt x="0" y="0"/>
                </a:moveTo>
                <a:lnTo>
                  <a:pt x="441616" y="0"/>
                </a:lnTo>
                <a:lnTo>
                  <a:pt x="441616" y="633140"/>
                </a:lnTo>
                <a:lnTo>
                  <a:pt x="0" y="63314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aphicFrame>
        <p:nvGraphicFramePr>
          <p:cNvPr name="Object 9" id="9"/>
          <p:cNvGraphicFramePr/>
          <p:nvPr/>
        </p:nvGraphicFramePr>
        <p:xfrm>
          <a:off x="10228374" y="4210755"/>
          <a:ext cx="5657850" cy="3771900"/>
        </p:xfrm>
        <a:graphic>
          <a:graphicData uri="http://schemas.openxmlformats.org/presentationml/2006/ole">
            <p:oleObj imgW="6781800" imgH="4902200" r:id="rId10" progId="Excel.Sheet.12" name="Worksheet">
              <p:embed/>
              <p:pic>
                <p:nvPicPr>
                  <p:cNvPr name="" id="0"/>
                  <p:cNvPicPr/>
                  <p:nvPr/>
                </p:nvPicPr>
                <p:blipFill>
                  <a:blip r:embed="rId9"/>
                  <a:stretch>
                    <a:fillRect/>
                  </a:stretch>
                </p:blipFill>
                <p:spPr>
                  <a:xfrm>
                    <a:off x="1270000" y="1270000"/>
                    <a:ext cx="1270000" cy="1270000"/>
                  </a:xfrm>
                  <a:prstGeom prst="rect"/>
                </p:spPr>
              </p:pic>
            </p:oleObj>
          </a:graphicData>
        </a:graphic>
      </p:graphicFrame>
      <p:grpSp>
        <p:nvGrpSpPr>
          <p:cNvPr name="Group 10" id="10"/>
          <p:cNvGrpSpPr/>
          <p:nvPr/>
        </p:nvGrpSpPr>
        <p:grpSpPr>
          <a:xfrm rot="0">
            <a:off x="10228374" y="3423081"/>
            <a:ext cx="3832002" cy="610006"/>
            <a:chOff x="0" y="0"/>
            <a:chExt cx="5109336" cy="813341"/>
          </a:xfrm>
        </p:grpSpPr>
        <p:grpSp>
          <p:nvGrpSpPr>
            <p:cNvPr name="Group 11" id="11"/>
            <p:cNvGrpSpPr/>
            <p:nvPr/>
          </p:nvGrpSpPr>
          <p:grpSpPr>
            <a:xfrm rot="0">
              <a:off x="0" y="0"/>
              <a:ext cx="5109336" cy="813341"/>
              <a:chOff x="0" y="0"/>
              <a:chExt cx="5209355" cy="829262"/>
            </a:xfrm>
          </p:grpSpPr>
          <p:sp>
            <p:nvSpPr>
              <p:cNvPr name="Freeform 12" id="12"/>
              <p:cNvSpPr/>
              <p:nvPr/>
            </p:nvSpPr>
            <p:spPr>
              <a:xfrm flipH="false" flipV="false" rot="0">
                <a:off x="0" y="0"/>
                <a:ext cx="5209355" cy="829262"/>
              </a:xfrm>
              <a:custGeom>
                <a:avLst/>
                <a:gdLst/>
                <a:ahLst/>
                <a:cxnLst/>
                <a:rect r="r" b="b" t="t" l="l"/>
                <a:pathLst>
                  <a:path h="829262" w="5209355">
                    <a:moveTo>
                      <a:pt x="0" y="0"/>
                    </a:moveTo>
                    <a:lnTo>
                      <a:pt x="5209355" y="0"/>
                    </a:lnTo>
                    <a:lnTo>
                      <a:pt x="5209355" y="829262"/>
                    </a:lnTo>
                    <a:lnTo>
                      <a:pt x="0" y="829262"/>
                    </a:lnTo>
                    <a:close/>
                  </a:path>
                </a:pathLst>
              </a:custGeom>
              <a:solidFill>
                <a:srgbClr val="FFFFFF"/>
              </a:solidFill>
            </p:spPr>
          </p:sp>
        </p:grpSp>
        <p:sp>
          <p:nvSpPr>
            <p:cNvPr name="TextBox 13" id="13"/>
            <p:cNvSpPr txBox="true"/>
            <p:nvPr/>
          </p:nvSpPr>
          <p:spPr>
            <a:xfrm rot="0">
              <a:off x="82137" y="156275"/>
              <a:ext cx="4945062" cy="492972"/>
            </a:xfrm>
            <a:prstGeom prst="rect">
              <a:avLst/>
            </a:prstGeom>
          </p:spPr>
          <p:txBody>
            <a:bodyPr anchor="t" rtlCol="false" tIns="0" lIns="0" bIns="0" rIns="0">
              <a:spAutoFit/>
            </a:bodyPr>
            <a:lstStyle/>
            <a:p>
              <a:pPr algn="ctr">
                <a:lnSpc>
                  <a:spcPts val="2859"/>
                </a:lnSpc>
                <a:spcBef>
                  <a:spcPct val="0"/>
                </a:spcBef>
              </a:pPr>
              <a:r>
                <a:rPr lang="en-US" sz="2199">
                  <a:solidFill>
                    <a:srgbClr val="003EA8"/>
                  </a:solidFill>
                  <a:latin typeface="Telegraf"/>
                  <a:ea typeface="Telegraf"/>
                  <a:cs typeface="Telegraf"/>
                  <a:sym typeface="Telegraf"/>
                </a:rPr>
                <a:t>Trimestres con más ataques </a:t>
              </a:r>
            </a:p>
          </p:txBody>
        </p:sp>
      </p:grpSp>
      <p:grpSp>
        <p:nvGrpSpPr>
          <p:cNvPr name="Group 14" id="14"/>
          <p:cNvGrpSpPr/>
          <p:nvPr/>
        </p:nvGrpSpPr>
        <p:grpSpPr>
          <a:xfrm rot="0">
            <a:off x="3883908" y="3423081"/>
            <a:ext cx="3832002" cy="610006"/>
            <a:chOff x="0" y="0"/>
            <a:chExt cx="5109336" cy="813341"/>
          </a:xfrm>
        </p:grpSpPr>
        <p:grpSp>
          <p:nvGrpSpPr>
            <p:cNvPr name="Group 15" id="15"/>
            <p:cNvGrpSpPr/>
            <p:nvPr/>
          </p:nvGrpSpPr>
          <p:grpSpPr>
            <a:xfrm rot="0">
              <a:off x="0" y="0"/>
              <a:ext cx="5109336" cy="813341"/>
              <a:chOff x="0" y="0"/>
              <a:chExt cx="5209355" cy="829262"/>
            </a:xfrm>
          </p:grpSpPr>
          <p:sp>
            <p:nvSpPr>
              <p:cNvPr name="Freeform 16" id="16"/>
              <p:cNvSpPr/>
              <p:nvPr/>
            </p:nvSpPr>
            <p:spPr>
              <a:xfrm flipH="false" flipV="false" rot="0">
                <a:off x="0" y="0"/>
                <a:ext cx="5209355" cy="829262"/>
              </a:xfrm>
              <a:custGeom>
                <a:avLst/>
                <a:gdLst/>
                <a:ahLst/>
                <a:cxnLst/>
                <a:rect r="r" b="b" t="t" l="l"/>
                <a:pathLst>
                  <a:path h="829262" w="5209355">
                    <a:moveTo>
                      <a:pt x="0" y="0"/>
                    </a:moveTo>
                    <a:lnTo>
                      <a:pt x="5209355" y="0"/>
                    </a:lnTo>
                    <a:lnTo>
                      <a:pt x="5209355" y="829262"/>
                    </a:lnTo>
                    <a:lnTo>
                      <a:pt x="0" y="829262"/>
                    </a:lnTo>
                    <a:close/>
                  </a:path>
                </a:pathLst>
              </a:custGeom>
              <a:solidFill>
                <a:srgbClr val="FFFFFF"/>
              </a:solidFill>
            </p:spPr>
          </p:sp>
        </p:grpSp>
        <p:sp>
          <p:nvSpPr>
            <p:cNvPr name="TextBox 17" id="17"/>
            <p:cNvSpPr txBox="true"/>
            <p:nvPr/>
          </p:nvSpPr>
          <p:spPr>
            <a:xfrm rot="0">
              <a:off x="82137" y="156275"/>
              <a:ext cx="4945062" cy="492972"/>
            </a:xfrm>
            <a:prstGeom prst="rect">
              <a:avLst/>
            </a:prstGeom>
          </p:spPr>
          <p:txBody>
            <a:bodyPr anchor="t" rtlCol="false" tIns="0" lIns="0" bIns="0" rIns="0">
              <a:spAutoFit/>
            </a:bodyPr>
            <a:lstStyle/>
            <a:p>
              <a:pPr algn="ctr">
                <a:lnSpc>
                  <a:spcPts val="2859"/>
                </a:lnSpc>
                <a:spcBef>
                  <a:spcPct val="0"/>
                </a:spcBef>
              </a:pPr>
              <a:r>
                <a:rPr lang="en-US" sz="2199">
                  <a:solidFill>
                    <a:srgbClr val="003EA8"/>
                  </a:solidFill>
                  <a:latin typeface="Telegraf"/>
                  <a:ea typeface="Telegraf"/>
                  <a:cs typeface="Telegraf"/>
                  <a:sym typeface="Telegraf"/>
                </a:rPr>
                <a:t>Análisis de actividades</a:t>
              </a:r>
            </a:p>
          </p:txBody>
        </p:sp>
      </p:grpSp>
      <p:graphicFrame>
        <p:nvGraphicFramePr>
          <p:cNvPr name="Object 18" id="18"/>
          <p:cNvGraphicFramePr/>
          <p:nvPr/>
        </p:nvGraphicFramePr>
        <p:xfrm>
          <a:off x="4022593" y="4210755"/>
          <a:ext cx="5657850" cy="5029200"/>
        </p:xfrm>
        <a:graphic>
          <a:graphicData uri="http://schemas.openxmlformats.org/presentationml/2006/ole">
            <p:oleObj imgW="6781800" imgH="6159500" r:id="rId12" progId="Excel.Sheet.12" name="Worksheet">
              <p:embed/>
              <p:pic>
                <p:nvPicPr>
                  <p:cNvPr name="" id="0"/>
                  <p:cNvPicPr/>
                  <p:nvPr/>
                </p:nvPicPr>
                <p:blipFill>
                  <a:blip r:embed="rId11"/>
                  <a:stretch>
                    <a:fillRect/>
                  </a:stretch>
                </p:blipFill>
                <p:spPr>
                  <a:xfrm>
                    <a:off x="1270000" y="1270000"/>
                    <a:ext cx="1270000" cy="1270000"/>
                  </a:xfrm>
                  <a:prstGeom prst="rect"/>
                </p:spPr>
              </p:pic>
            </p:oleObj>
          </a:graphicData>
        </a:graphic>
      </p:graphicFrame>
      <p:sp>
        <p:nvSpPr>
          <p:cNvPr name="TextBox 19" id="19"/>
          <p:cNvSpPr txBox="true"/>
          <p:nvPr/>
        </p:nvSpPr>
        <p:spPr>
          <a:xfrm rot="0">
            <a:off x="-237820" y="1394984"/>
            <a:ext cx="18147723" cy="1133475"/>
          </a:xfrm>
          <a:prstGeom prst="rect">
            <a:avLst/>
          </a:prstGeom>
        </p:spPr>
        <p:txBody>
          <a:bodyPr anchor="t" rtlCol="false" tIns="0" lIns="0" bIns="0" rIns="0">
            <a:spAutoFit/>
          </a:bodyPr>
          <a:lstStyle/>
          <a:p>
            <a:pPr algn="ctr">
              <a:lnSpc>
                <a:spcPts val="8399"/>
              </a:lnSpc>
            </a:pPr>
            <a:r>
              <a:rPr lang="en-US" b="true" sz="6999">
                <a:solidFill>
                  <a:srgbClr val="003EA8"/>
                </a:solidFill>
                <a:latin typeface="Telegraf Bold"/>
                <a:ea typeface="Telegraf Bold"/>
                <a:cs typeface="Telegraf Bold"/>
                <a:sym typeface="Telegraf Bold"/>
              </a:rPr>
              <a:t>Nuestros resultados visualmente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333044"/>
            <a:ext cx="16444941" cy="934419"/>
            <a:chOff x="0" y="0"/>
            <a:chExt cx="5999159" cy="340879"/>
          </a:xfrm>
        </p:grpSpPr>
        <p:sp>
          <p:nvSpPr>
            <p:cNvPr name="Freeform 4" id="4"/>
            <p:cNvSpPr/>
            <p:nvPr/>
          </p:nvSpPr>
          <p:spPr>
            <a:xfrm flipH="false" flipV="false" rot="0">
              <a:off x="0" y="0"/>
              <a:ext cx="5999159" cy="340879"/>
            </a:xfrm>
            <a:custGeom>
              <a:avLst/>
              <a:gdLst/>
              <a:ahLst/>
              <a:cxnLst/>
              <a:rect r="r" b="b" t="t" l="l"/>
              <a:pathLst>
                <a:path h="340879" w="5999159">
                  <a:moveTo>
                    <a:pt x="0" y="0"/>
                  </a:moveTo>
                  <a:lnTo>
                    <a:pt x="5999159" y="0"/>
                  </a:lnTo>
                  <a:lnTo>
                    <a:pt x="5999159" y="340879"/>
                  </a:lnTo>
                  <a:lnTo>
                    <a:pt x="0" y="340879"/>
                  </a:lnTo>
                  <a:close/>
                </a:path>
              </a:pathLst>
            </a:custGeom>
            <a:solidFill>
              <a:srgbClr val="FFFFFF"/>
            </a:solidFill>
          </p:spPr>
        </p:sp>
      </p:grpSp>
      <p:sp>
        <p:nvSpPr>
          <p:cNvPr name="TextBox 5" id="5"/>
          <p:cNvSpPr txBox="true"/>
          <p:nvPr/>
        </p:nvSpPr>
        <p:spPr>
          <a:xfrm rot="0">
            <a:off x="1768754" y="379490"/>
            <a:ext cx="14750492" cy="895584"/>
          </a:xfrm>
          <a:prstGeom prst="rect">
            <a:avLst/>
          </a:prstGeom>
        </p:spPr>
        <p:txBody>
          <a:bodyPr anchor="t" rtlCol="false" tIns="0" lIns="0" bIns="0" rIns="0">
            <a:spAutoFit/>
          </a:bodyPr>
          <a:lstStyle/>
          <a:p>
            <a:pPr algn="ctr">
              <a:lnSpc>
                <a:spcPts val="6599"/>
              </a:lnSpc>
            </a:pPr>
            <a:r>
              <a:rPr lang="en-US" b="true" sz="5499">
                <a:solidFill>
                  <a:srgbClr val="003EA8"/>
                </a:solidFill>
                <a:latin typeface="Telegraf Bold"/>
                <a:ea typeface="Telegraf Bold"/>
                <a:cs typeface="Telegraf Bold"/>
                <a:sym typeface="Telegraf Bold"/>
              </a:rPr>
              <a:t>Conclusiones</a:t>
            </a:r>
          </a:p>
        </p:txBody>
      </p:sp>
      <p:sp>
        <p:nvSpPr>
          <p:cNvPr name="Freeform 6" id="6"/>
          <p:cNvSpPr/>
          <p:nvPr/>
        </p:nvSpPr>
        <p:spPr>
          <a:xfrm flipH="false" flipV="false" rot="-278358">
            <a:off x="13186236" y="8760183"/>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7609762" y="7735400"/>
            <a:ext cx="441616" cy="633141"/>
          </a:xfrm>
          <a:custGeom>
            <a:avLst/>
            <a:gdLst/>
            <a:ahLst/>
            <a:cxnLst/>
            <a:rect r="r" b="b" t="t" l="l"/>
            <a:pathLst>
              <a:path h="633141" w="441616">
                <a:moveTo>
                  <a:pt x="0" y="0"/>
                </a:moveTo>
                <a:lnTo>
                  <a:pt x="441616" y="0"/>
                </a:lnTo>
                <a:lnTo>
                  <a:pt x="441616"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243671" y="950893"/>
            <a:ext cx="441616" cy="633141"/>
          </a:xfrm>
          <a:custGeom>
            <a:avLst/>
            <a:gdLst/>
            <a:ahLst/>
            <a:cxnLst/>
            <a:rect r="r" b="b" t="t" l="l"/>
            <a:pathLst>
              <a:path h="633141" w="441616">
                <a:moveTo>
                  <a:pt x="0" y="0"/>
                </a:moveTo>
                <a:lnTo>
                  <a:pt x="441616" y="0"/>
                </a:lnTo>
                <a:lnTo>
                  <a:pt x="441616"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1354986" y="2069131"/>
            <a:ext cx="15545960" cy="6299411"/>
          </a:xfrm>
          <a:prstGeom prst="rect">
            <a:avLst/>
          </a:prstGeom>
        </p:spPr>
        <p:txBody>
          <a:bodyPr anchor="t" rtlCol="false" tIns="0" lIns="0" bIns="0" rIns="0">
            <a:spAutoFit/>
          </a:bodyPr>
          <a:lstStyle/>
          <a:p>
            <a:pPr algn="just" marL="590144" indent="-295072" lvl="1">
              <a:lnSpc>
                <a:spcPts val="3553"/>
              </a:lnSpc>
              <a:spcBef>
                <a:spcPct val="0"/>
              </a:spcBef>
              <a:buFont typeface="Arial"/>
              <a:buChar char="•"/>
            </a:pPr>
            <a:r>
              <a:rPr lang="en-US" sz="2733">
                <a:solidFill>
                  <a:srgbClr val="000000"/>
                </a:solidFill>
                <a:latin typeface="Telegraf"/>
                <a:ea typeface="Telegraf"/>
                <a:cs typeface="Telegraf"/>
                <a:sym typeface="Telegraf"/>
              </a:rPr>
              <a:t>El análisis de los datos nos ha permitido identificar un </a:t>
            </a:r>
            <a:r>
              <a:rPr lang="en-US" b="true" sz="2733">
                <a:solidFill>
                  <a:srgbClr val="000000"/>
                </a:solidFill>
                <a:latin typeface="Telegraf Bold"/>
                <a:ea typeface="Telegraf Bold"/>
                <a:cs typeface="Telegraf Bold"/>
                <a:sym typeface="Telegraf Bold"/>
              </a:rPr>
              <a:t>perfil de riesgo claro</a:t>
            </a:r>
            <a:r>
              <a:rPr lang="en-US" sz="2733">
                <a:solidFill>
                  <a:srgbClr val="000000"/>
                </a:solidFill>
                <a:latin typeface="Telegraf"/>
                <a:ea typeface="Telegraf"/>
                <a:cs typeface="Telegraf"/>
                <a:sym typeface="Telegraf"/>
              </a:rPr>
              <a:t> que respalda el desarrollo del Sharkattack System como solución de prevención costera basada en datos. </a:t>
            </a:r>
          </a:p>
          <a:p>
            <a:pPr algn="just">
              <a:lnSpc>
                <a:spcPts val="3553"/>
              </a:lnSpc>
              <a:spcBef>
                <a:spcPct val="0"/>
              </a:spcBef>
            </a:pPr>
          </a:p>
          <a:p>
            <a:pPr algn="just" marL="590144" indent="-295072" lvl="1">
              <a:lnSpc>
                <a:spcPts val="3553"/>
              </a:lnSpc>
              <a:spcBef>
                <a:spcPct val="0"/>
              </a:spcBef>
              <a:buFont typeface="Arial"/>
              <a:buChar char="•"/>
            </a:pPr>
            <a:r>
              <a:rPr lang="en-US" sz="2733">
                <a:solidFill>
                  <a:srgbClr val="000000"/>
                </a:solidFill>
                <a:latin typeface="Telegraf"/>
                <a:ea typeface="Telegraf"/>
                <a:cs typeface="Telegraf"/>
                <a:sym typeface="Telegraf"/>
              </a:rPr>
              <a:t>La mayoría de las víctimas son hombres, principalmente durante actividades como surf, natación y pesca. Los ataques fatales se producen en su mayoría de forma no provocada, lo que refuerza la </a:t>
            </a:r>
            <a:r>
              <a:rPr lang="en-US" b="true" sz="2733">
                <a:solidFill>
                  <a:srgbClr val="000000"/>
                </a:solidFill>
                <a:latin typeface="Telegraf Bold"/>
                <a:ea typeface="Telegraf Bold"/>
                <a:cs typeface="Telegraf Bold"/>
                <a:sym typeface="Telegraf Bold"/>
              </a:rPr>
              <a:t>necesidad de sistemas preventivos pasivos y de alerta temprana.</a:t>
            </a:r>
          </a:p>
          <a:p>
            <a:pPr algn="just">
              <a:lnSpc>
                <a:spcPts val="3553"/>
              </a:lnSpc>
              <a:spcBef>
                <a:spcPct val="0"/>
              </a:spcBef>
            </a:pPr>
          </a:p>
          <a:p>
            <a:pPr algn="just" marL="590144" indent="-295072" lvl="1">
              <a:lnSpc>
                <a:spcPts val="3553"/>
              </a:lnSpc>
              <a:spcBef>
                <a:spcPct val="0"/>
              </a:spcBef>
              <a:buFont typeface="Arial"/>
              <a:buChar char="•"/>
            </a:pPr>
            <a:r>
              <a:rPr lang="en-US" sz="2733">
                <a:solidFill>
                  <a:srgbClr val="000000"/>
                </a:solidFill>
                <a:latin typeface="Telegraf"/>
                <a:ea typeface="Telegraf"/>
                <a:cs typeface="Telegraf"/>
                <a:sym typeface="Telegraf"/>
              </a:rPr>
              <a:t>Geográficamente, los ataques se concentran en Estados Unidos, Australia y Sudáfrica, con una marcada estacionalidad, siendo el tercer trimestre el periodo con mayor incidencia. Estos patrones permiten </a:t>
            </a:r>
            <a:r>
              <a:rPr lang="en-US" b="true" sz="2733">
                <a:solidFill>
                  <a:srgbClr val="000000"/>
                </a:solidFill>
                <a:latin typeface="Telegraf Bold"/>
                <a:ea typeface="Telegraf Bold"/>
                <a:cs typeface="Telegraf Bold"/>
                <a:sym typeface="Telegraf Bold"/>
              </a:rPr>
              <a:t>optimizar la implantación del sistema según zona y época del año.</a:t>
            </a:r>
          </a:p>
          <a:p>
            <a:pPr algn="just">
              <a:lnSpc>
                <a:spcPts val="3553"/>
              </a:lnSpc>
              <a:spcBef>
                <a:spcPct val="0"/>
              </a:spcBef>
            </a:pPr>
          </a:p>
          <a:p>
            <a:pPr algn="just" marL="590144" indent="-295072" lvl="1">
              <a:lnSpc>
                <a:spcPts val="3553"/>
              </a:lnSpc>
              <a:spcBef>
                <a:spcPct val="0"/>
              </a:spcBef>
              <a:buFont typeface="Arial"/>
              <a:buChar char="•"/>
            </a:pPr>
            <a:r>
              <a:rPr lang="en-US" sz="2733">
                <a:solidFill>
                  <a:srgbClr val="000000"/>
                </a:solidFill>
                <a:latin typeface="Telegraf"/>
                <a:ea typeface="Telegraf"/>
                <a:cs typeface="Telegraf"/>
                <a:sym typeface="Telegraf"/>
              </a:rPr>
              <a:t>En conclusión, el Sharkattack System </a:t>
            </a:r>
            <a:r>
              <a:rPr lang="en-US" b="true" sz="2733">
                <a:solidFill>
                  <a:srgbClr val="000000"/>
                </a:solidFill>
                <a:latin typeface="Telegraf Bold"/>
                <a:ea typeface="Telegraf Bold"/>
                <a:cs typeface="Telegraf Bold"/>
                <a:sym typeface="Telegraf Bold"/>
              </a:rPr>
              <a:t>ofrece una ventaja competitiva al ser una solución preventiva, adaptable y fundamentada en evidencia empírica</a:t>
            </a:r>
            <a:r>
              <a:rPr lang="en-US" sz="2733">
                <a:solidFill>
                  <a:srgbClr val="000000"/>
                </a:solidFill>
                <a:latin typeface="Telegraf"/>
                <a:ea typeface="Telegraf"/>
                <a:cs typeface="Telegraf"/>
                <a:sym typeface="Telegraf"/>
              </a:rPr>
              <a:t>, orientada a reducir accidentes y mejorar la seguridad en entornos costeros.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36355" cy="1907038"/>
            <a:chOff x="0" y="0"/>
            <a:chExt cx="5996027" cy="695693"/>
          </a:xfrm>
        </p:grpSpPr>
        <p:sp>
          <p:nvSpPr>
            <p:cNvPr name="Freeform 4" id="4"/>
            <p:cNvSpPr/>
            <p:nvPr/>
          </p:nvSpPr>
          <p:spPr>
            <a:xfrm flipH="false" flipV="false" rot="0">
              <a:off x="0" y="0"/>
              <a:ext cx="5996027" cy="695693"/>
            </a:xfrm>
            <a:custGeom>
              <a:avLst/>
              <a:gdLst/>
              <a:ahLst/>
              <a:cxnLst/>
              <a:rect r="r" b="b" t="t" l="l"/>
              <a:pathLst>
                <a:path h="695693" w="5996027">
                  <a:moveTo>
                    <a:pt x="0" y="0"/>
                  </a:moveTo>
                  <a:lnTo>
                    <a:pt x="5996027" y="0"/>
                  </a:lnTo>
                  <a:lnTo>
                    <a:pt x="5996027" y="695693"/>
                  </a:lnTo>
                  <a:lnTo>
                    <a:pt x="0" y="695693"/>
                  </a:lnTo>
                  <a:close/>
                </a:path>
              </a:pathLst>
            </a:custGeom>
            <a:solidFill>
              <a:srgbClr val="FFFFFF"/>
            </a:solidFill>
          </p:spPr>
        </p:sp>
      </p:grpSp>
      <p:grpSp>
        <p:nvGrpSpPr>
          <p:cNvPr name="Group 5" id="5"/>
          <p:cNvGrpSpPr/>
          <p:nvPr/>
        </p:nvGrpSpPr>
        <p:grpSpPr>
          <a:xfrm rot="0">
            <a:off x="905495" y="2924154"/>
            <a:ext cx="16436355" cy="5815928"/>
            <a:chOff x="0" y="0"/>
            <a:chExt cx="5996027" cy="2121666"/>
          </a:xfrm>
        </p:grpSpPr>
        <p:sp>
          <p:nvSpPr>
            <p:cNvPr name="Freeform 6" id="6"/>
            <p:cNvSpPr/>
            <p:nvPr/>
          </p:nvSpPr>
          <p:spPr>
            <a:xfrm flipH="false" flipV="false" rot="0">
              <a:off x="0" y="0"/>
              <a:ext cx="5996027" cy="2121666"/>
            </a:xfrm>
            <a:custGeom>
              <a:avLst/>
              <a:gdLst/>
              <a:ahLst/>
              <a:cxnLst/>
              <a:rect r="r" b="b" t="t" l="l"/>
              <a:pathLst>
                <a:path h="2121666" w="5996027">
                  <a:moveTo>
                    <a:pt x="0" y="0"/>
                  </a:moveTo>
                  <a:lnTo>
                    <a:pt x="5996027" y="0"/>
                  </a:lnTo>
                  <a:lnTo>
                    <a:pt x="5996027" y="2121666"/>
                  </a:lnTo>
                  <a:lnTo>
                    <a:pt x="0" y="2121666"/>
                  </a:lnTo>
                  <a:close/>
                </a:path>
              </a:pathLst>
            </a:custGeom>
            <a:solidFill>
              <a:srgbClr val="FFFFFF"/>
            </a:solidFill>
          </p:spPr>
        </p:sp>
      </p:grpSp>
      <p:sp>
        <p:nvSpPr>
          <p:cNvPr name="Freeform 7" id="7"/>
          <p:cNvSpPr/>
          <p:nvPr/>
        </p:nvSpPr>
        <p:spPr>
          <a:xfrm flipH="false" flipV="false" rot="0">
            <a:off x="5167557" y="3399025"/>
            <a:ext cx="2220750" cy="2433093"/>
          </a:xfrm>
          <a:custGeom>
            <a:avLst/>
            <a:gdLst/>
            <a:ahLst/>
            <a:cxnLst/>
            <a:rect r="r" b="b" t="t" l="l"/>
            <a:pathLst>
              <a:path h="2433093" w="2220750">
                <a:moveTo>
                  <a:pt x="0" y="0"/>
                </a:moveTo>
                <a:lnTo>
                  <a:pt x="2220750" y="0"/>
                </a:lnTo>
                <a:lnTo>
                  <a:pt x="2220750" y="2433093"/>
                </a:lnTo>
                <a:lnTo>
                  <a:pt x="0" y="24330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4280011" y="5917009"/>
            <a:ext cx="4588260" cy="2409494"/>
            <a:chOff x="0" y="0"/>
            <a:chExt cx="6117680" cy="3212658"/>
          </a:xfrm>
        </p:grpSpPr>
        <p:sp>
          <p:nvSpPr>
            <p:cNvPr name="TextBox 9" id="9"/>
            <p:cNvSpPr txBox="true"/>
            <p:nvPr/>
          </p:nvSpPr>
          <p:spPr>
            <a:xfrm rot="0">
              <a:off x="0" y="-47625"/>
              <a:ext cx="6117680" cy="758825"/>
            </a:xfrm>
            <a:prstGeom prst="rect">
              <a:avLst/>
            </a:prstGeom>
          </p:spPr>
          <p:txBody>
            <a:bodyPr anchor="t" rtlCol="false" tIns="0" lIns="0" bIns="0" rIns="0">
              <a:spAutoFit/>
            </a:bodyPr>
            <a:lstStyle/>
            <a:p>
              <a:pPr algn="l">
                <a:lnSpc>
                  <a:spcPts val="4200"/>
                </a:lnSpc>
              </a:pPr>
              <a:r>
                <a:rPr lang="en-US" sz="3500" b="true">
                  <a:solidFill>
                    <a:srgbClr val="003EA8"/>
                  </a:solidFill>
                  <a:latin typeface="Telegraf Bold"/>
                  <a:ea typeface="Telegraf Bold"/>
                  <a:cs typeface="Telegraf Bold"/>
                  <a:sym typeface="Telegraf Bold"/>
                </a:rPr>
                <a:t>MONI APORTÓ: </a:t>
              </a:r>
            </a:p>
          </p:txBody>
        </p:sp>
        <p:sp>
          <p:nvSpPr>
            <p:cNvPr name="TextBox 10" id="10"/>
            <p:cNvSpPr txBox="true"/>
            <p:nvPr/>
          </p:nvSpPr>
          <p:spPr>
            <a:xfrm rot="0">
              <a:off x="0" y="789286"/>
              <a:ext cx="6117680" cy="2423372"/>
            </a:xfrm>
            <a:prstGeom prst="rect">
              <a:avLst/>
            </a:prstGeom>
          </p:spPr>
          <p:txBody>
            <a:bodyPr anchor="t" rtlCol="false" tIns="0" lIns="0" bIns="0" rIns="0">
              <a:spAutoFit/>
            </a:bodyPr>
            <a:lstStyle/>
            <a:p>
              <a:pPr algn="l" marL="474979" indent="-237490" lvl="1">
                <a:lnSpc>
                  <a:spcPts val="2859"/>
                </a:lnSpc>
                <a:buFont typeface="Arial"/>
                <a:buChar char="•"/>
              </a:pPr>
              <a:r>
                <a:rPr lang="en-US" sz="2199">
                  <a:solidFill>
                    <a:srgbClr val="000000"/>
                  </a:solidFill>
                  <a:latin typeface="Telegraf"/>
                  <a:ea typeface="Telegraf"/>
                  <a:cs typeface="Telegraf"/>
                  <a:sym typeface="Telegraf"/>
                </a:rPr>
                <a:t>He tenido una increíble compañera de equipo, espero volver a trabajar con ella, gracias por el apoyo y la organización, eres lo máximo. </a:t>
              </a:r>
            </a:p>
          </p:txBody>
        </p:sp>
      </p:grpSp>
      <p:sp>
        <p:nvSpPr>
          <p:cNvPr name="Freeform 11" id="11"/>
          <p:cNvSpPr/>
          <p:nvPr/>
        </p:nvSpPr>
        <p:spPr>
          <a:xfrm flipH="true" flipV="false" rot="0">
            <a:off x="15484919" y="8123782"/>
            <a:ext cx="4585506" cy="1625770"/>
          </a:xfrm>
          <a:custGeom>
            <a:avLst/>
            <a:gdLst/>
            <a:ahLst/>
            <a:cxnLst/>
            <a:rect r="r" b="b" t="t" l="l"/>
            <a:pathLst>
              <a:path h="1625770" w="4585506">
                <a:moveTo>
                  <a:pt x="4585506" y="0"/>
                </a:moveTo>
                <a:lnTo>
                  <a:pt x="0" y="0"/>
                </a:lnTo>
                <a:lnTo>
                  <a:pt x="0" y="1625770"/>
                </a:lnTo>
                <a:lnTo>
                  <a:pt x="4585506" y="1625770"/>
                </a:lnTo>
                <a:lnTo>
                  <a:pt x="4585506"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782425" y="8123782"/>
            <a:ext cx="4585506" cy="1625770"/>
          </a:xfrm>
          <a:custGeom>
            <a:avLst/>
            <a:gdLst/>
            <a:ahLst/>
            <a:cxnLst/>
            <a:rect r="r" b="b" t="t" l="l"/>
            <a:pathLst>
              <a:path h="1625770" w="4585506">
                <a:moveTo>
                  <a:pt x="0" y="0"/>
                </a:moveTo>
                <a:lnTo>
                  <a:pt x="4585506" y="0"/>
                </a:lnTo>
                <a:lnTo>
                  <a:pt x="4585506" y="1625770"/>
                </a:lnTo>
                <a:lnTo>
                  <a:pt x="0" y="162577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641794">
            <a:off x="8923192" y="-178822"/>
            <a:ext cx="441616" cy="633141"/>
          </a:xfrm>
          <a:custGeom>
            <a:avLst/>
            <a:gdLst/>
            <a:ahLst/>
            <a:cxnLst/>
            <a:rect r="r" b="b" t="t" l="l"/>
            <a:pathLst>
              <a:path h="633141" w="441616">
                <a:moveTo>
                  <a:pt x="0" y="0"/>
                </a:moveTo>
                <a:lnTo>
                  <a:pt x="441616" y="0"/>
                </a:lnTo>
                <a:lnTo>
                  <a:pt x="441616" y="633141"/>
                </a:lnTo>
                <a:lnTo>
                  <a:pt x="0" y="63314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false" rot="0">
            <a:off x="11817701" y="3150347"/>
            <a:ext cx="2140078" cy="2681772"/>
          </a:xfrm>
          <a:custGeom>
            <a:avLst/>
            <a:gdLst/>
            <a:ahLst/>
            <a:cxnLst/>
            <a:rect r="r" b="b" t="t" l="l"/>
            <a:pathLst>
              <a:path h="2681772" w="2140078">
                <a:moveTo>
                  <a:pt x="0" y="0"/>
                </a:moveTo>
                <a:lnTo>
                  <a:pt x="2140078" y="0"/>
                </a:lnTo>
                <a:lnTo>
                  <a:pt x="2140078" y="2681771"/>
                </a:lnTo>
                <a:lnTo>
                  <a:pt x="0" y="2681771"/>
                </a:lnTo>
                <a:lnTo>
                  <a:pt x="0" y="0"/>
                </a:lnTo>
                <a:close/>
              </a:path>
            </a:pathLst>
          </a:custGeom>
          <a:blipFill>
            <a:blip r:embed="rId9">
              <a:extLst>
                <a:ext uri="{96DAC541-7B7A-43D3-8B79-37D633B846F1}">
                  <asvg:svgBlip xmlns:asvg="http://schemas.microsoft.com/office/drawing/2016/SVG/main" r:embed="rId10"/>
                </a:ext>
              </a:extLst>
            </a:blip>
            <a:stretch>
              <a:fillRect l="0" t="0" r="-46330" b="0"/>
            </a:stretch>
          </a:blipFill>
        </p:spPr>
      </p:sp>
      <p:sp>
        <p:nvSpPr>
          <p:cNvPr name="TextBox 15" id="15"/>
          <p:cNvSpPr txBox="true"/>
          <p:nvPr/>
        </p:nvSpPr>
        <p:spPr>
          <a:xfrm rot="0">
            <a:off x="3106887" y="820148"/>
            <a:ext cx="12074226" cy="1476375"/>
          </a:xfrm>
          <a:prstGeom prst="rect">
            <a:avLst/>
          </a:prstGeom>
        </p:spPr>
        <p:txBody>
          <a:bodyPr anchor="t" rtlCol="false" tIns="0" lIns="0" bIns="0" rIns="0">
            <a:spAutoFit/>
          </a:bodyPr>
          <a:lstStyle/>
          <a:p>
            <a:pPr algn="ctr">
              <a:lnSpc>
                <a:spcPts val="10800"/>
              </a:lnSpc>
            </a:pPr>
            <a:r>
              <a:rPr lang="en-US" b="true" sz="9000">
                <a:solidFill>
                  <a:srgbClr val="003EA8"/>
                </a:solidFill>
                <a:latin typeface="Telegraf Bold"/>
                <a:ea typeface="Telegraf Bold"/>
                <a:cs typeface="Telegraf Bold"/>
                <a:sym typeface="Telegraf Bold"/>
              </a:rPr>
              <a:t>GRACIAS</a:t>
            </a:r>
          </a:p>
        </p:txBody>
      </p:sp>
      <p:grpSp>
        <p:nvGrpSpPr>
          <p:cNvPr name="Group 16" id="16"/>
          <p:cNvGrpSpPr/>
          <p:nvPr/>
        </p:nvGrpSpPr>
        <p:grpSpPr>
          <a:xfrm rot="0">
            <a:off x="10593610" y="5917009"/>
            <a:ext cx="4588260" cy="2419019"/>
            <a:chOff x="0" y="0"/>
            <a:chExt cx="6117680" cy="3225358"/>
          </a:xfrm>
        </p:grpSpPr>
        <p:sp>
          <p:nvSpPr>
            <p:cNvPr name="TextBox 17" id="17"/>
            <p:cNvSpPr txBox="true"/>
            <p:nvPr/>
          </p:nvSpPr>
          <p:spPr>
            <a:xfrm rot="0">
              <a:off x="0" y="-47625"/>
              <a:ext cx="6117680" cy="758825"/>
            </a:xfrm>
            <a:prstGeom prst="rect">
              <a:avLst/>
            </a:prstGeom>
          </p:spPr>
          <p:txBody>
            <a:bodyPr anchor="t" rtlCol="false" tIns="0" lIns="0" bIns="0" rIns="0">
              <a:spAutoFit/>
            </a:bodyPr>
            <a:lstStyle/>
            <a:p>
              <a:pPr algn="l">
                <a:lnSpc>
                  <a:spcPts val="4200"/>
                </a:lnSpc>
              </a:pPr>
              <a:r>
                <a:rPr lang="en-US" sz="3500" b="true">
                  <a:solidFill>
                    <a:srgbClr val="003EA8"/>
                  </a:solidFill>
                  <a:latin typeface="Telegraf Bold"/>
                  <a:ea typeface="Telegraf Bold"/>
                  <a:cs typeface="Telegraf Bold"/>
                  <a:sym typeface="Telegraf Bold"/>
                </a:rPr>
                <a:t>MAMEN APORTÓ: </a:t>
              </a:r>
            </a:p>
          </p:txBody>
        </p:sp>
        <p:sp>
          <p:nvSpPr>
            <p:cNvPr name="TextBox 18" id="18"/>
            <p:cNvSpPr txBox="true"/>
            <p:nvPr/>
          </p:nvSpPr>
          <p:spPr>
            <a:xfrm rot="0">
              <a:off x="0" y="789286"/>
              <a:ext cx="6117680" cy="2436072"/>
            </a:xfrm>
            <a:prstGeom prst="rect">
              <a:avLst/>
            </a:prstGeom>
          </p:spPr>
          <p:txBody>
            <a:bodyPr anchor="t" rtlCol="false" tIns="0" lIns="0" bIns="0" rIns="0">
              <a:spAutoFit/>
            </a:bodyPr>
            <a:lstStyle/>
            <a:p>
              <a:pPr algn="l" marL="474979" indent="-237490" lvl="1">
                <a:lnSpc>
                  <a:spcPts val="2859"/>
                </a:lnSpc>
                <a:buFont typeface="Arial"/>
                <a:buChar char="•"/>
              </a:pPr>
              <a:r>
                <a:rPr lang="en-US" sz="2199">
                  <a:solidFill>
                    <a:srgbClr val="000000"/>
                  </a:solidFill>
                  <a:latin typeface="Telegraf"/>
                  <a:ea typeface="Telegraf"/>
                  <a:cs typeface="Telegraf"/>
                  <a:sym typeface="Telegraf"/>
                </a:rPr>
                <a:t>Honestamente, la mejor compañera la he tenido yo porque es una trabajadora ultra enérgica , sabe escuchar y es muy creativa.  </a:t>
              </a:r>
            </a:p>
          </p:txBody>
        </p:sp>
      </p:grpSp>
      <p:sp>
        <p:nvSpPr>
          <p:cNvPr name="TextBox 19" id="19"/>
          <p:cNvSpPr txBox="true"/>
          <p:nvPr/>
        </p:nvSpPr>
        <p:spPr>
          <a:xfrm rot="0">
            <a:off x="17341562" y="10113715"/>
            <a:ext cx="872219" cy="173285"/>
          </a:xfrm>
          <a:prstGeom prst="rect">
            <a:avLst/>
          </a:prstGeom>
        </p:spPr>
        <p:txBody>
          <a:bodyPr anchor="t" rtlCol="false" tIns="0" lIns="0" bIns="0" rIns="0">
            <a:spAutoFit/>
          </a:bodyPr>
          <a:lstStyle/>
          <a:p>
            <a:pPr algn="ctr">
              <a:lnSpc>
                <a:spcPts val="1239"/>
              </a:lnSpc>
              <a:spcBef>
                <a:spcPct val="0"/>
              </a:spcBef>
            </a:pPr>
            <a:r>
              <a:rPr lang="en-US" sz="953">
                <a:solidFill>
                  <a:srgbClr val="000000"/>
                </a:solidFill>
                <a:latin typeface="Telegraf"/>
                <a:ea typeface="Telegraf"/>
                <a:cs typeface="Telegraf"/>
                <a:sym typeface="Telegraf"/>
              </a:rPr>
              <a:t>Tiburonas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DAG_KPKE4Xs</dc:identifier>
  <dcterms:modified xsi:type="dcterms:W3CDTF">2011-08-01T06:04:30Z</dcterms:modified>
  <cp:revision>1</cp:revision>
  <dc:title>Navy White Black Scribbles and Doodles Business Plan Business Presentation</dc:title>
</cp:coreProperties>
</file>